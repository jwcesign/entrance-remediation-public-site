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e643894c56f48e6" /><Relationship Type="http://schemas.openxmlformats.org/officeDocument/2006/relationships/extended-properties" Target="/docProps/app.xml" Id="Rd762dde29bf54c9f" /><Relationship Type="http://schemas.openxmlformats.org/officeDocument/2006/relationships/officeDocument" Target="/ppt/presentation.xml" Id="R15578a5dd5b64964" /></Relationships>
</file>

<file path=ppt/presentation.xml><?xml version="1.0" encoding="utf-8"?>
<p:presentation xmlns:p="http://schemas.openxmlformats.org/presentationml/2006/main">
  <p:sldMasterIdLst>
    <p:sldMasterId xmlns:r="http://schemas.openxmlformats.org/officeDocument/2006/relationships" id="2147483648" r:id="R8664dc6fc6834c93"/>
  </p:sldMasterIdLst>
  <p:notesMasterIdLst>
    <p:notesMasterId xmlns:r="http://schemas.openxmlformats.org/officeDocument/2006/relationships" r:id="R61f9678adfe348e1"/>
  </p:notesMasterIdLst>
  <p:sldIdLst>
    <p:sldId xmlns:r="http://schemas.openxmlformats.org/officeDocument/2006/relationships" id="256" r:id="R77244995ca574a12"/>
    <p:sldId xmlns:r="http://schemas.openxmlformats.org/officeDocument/2006/relationships" id="257" r:id="R4defc166432047b5"/>
    <p:sldId xmlns:r="http://schemas.openxmlformats.org/officeDocument/2006/relationships" id="258" r:id="Rdac670b57bc54a57"/>
    <p:sldId xmlns:r="http://schemas.openxmlformats.org/officeDocument/2006/relationships" id="259" r:id="Rb00a1ac504114273"/>
    <p:sldId xmlns:r="http://schemas.openxmlformats.org/officeDocument/2006/relationships" id="260" r:id="Ra174cfc937df4b1f"/>
    <p:sldId xmlns:r="http://schemas.openxmlformats.org/officeDocument/2006/relationships" id="261" r:id="Rf0f92c2888774c22"/>
    <p:sldId xmlns:r="http://schemas.openxmlformats.org/officeDocument/2006/relationships" id="262" r:id="Rbd0693c78a19423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8821b4872064e9d" /><Relationship Type="http://schemas.openxmlformats.org/officeDocument/2006/relationships/slideMaster" Target="/ppt/slideMasters/slideMaster1.xml" Id="R8664dc6fc6834c93" /><Relationship Type="http://schemas.openxmlformats.org/officeDocument/2006/relationships/notesMaster" Target="/ppt/notesMasters/notesMaster1.xml" Id="R61f9678adfe348e1" /><Relationship Type="http://schemas.openxmlformats.org/officeDocument/2006/relationships/presProps" Target="/ppt/presProps.xml" Id="Rd136b1d20d624052" /><Relationship Type="http://schemas.openxmlformats.org/officeDocument/2006/relationships/tableStyles" Target="/ppt/tableStyles.xml" Id="R7056a535c623438d" /><Relationship Type="http://schemas.openxmlformats.org/officeDocument/2006/relationships/slide" Target="/ppt/slides/slide1.xml" Id="R77244995ca574a12" /><Relationship Type="http://schemas.openxmlformats.org/officeDocument/2006/relationships/slide" Target="/ppt/slides/slide2.xml" Id="R4defc166432047b5" /><Relationship Type="http://schemas.openxmlformats.org/officeDocument/2006/relationships/slide" Target="/ppt/slides/slide3.xml" Id="Rdac670b57bc54a57" /><Relationship Type="http://schemas.openxmlformats.org/officeDocument/2006/relationships/slide" Target="/ppt/slides/slide4.xml" Id="Rb00a1ac504114273" /><Relationship Type="http://schemas.openxmlformats.org/officeDocument/2006/relationships/slide" Target="/ppt/slides/slide5.xml" Id="Ra174cfc937df4b1f" /><Relationship Type="http://schemas.openxmlformats.org/officeDocument/2006/relationships/slide" Target="/ppt/slides/slide6.xml" Id="Rf0f92c2888774c22" /><Relationship Type="http://schemas.openxmlformats.org/officeDocument/2006/relationships/slide" Target="/ppt/slides/slide7.xml" Id="Rbd0693c78a19423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0196d353b5a4e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cc23c7ef48144e8" /><Relationship Type="http://schemas.openxmlformats.org/officeDocument/2006/relationships/notesMaster" Target="/ppt/notesMasters/notesMaster1.xml" Id="R72ec6ef3726d4c60" /></Relationships>
</file>

<file path=ppt/notesSlides/_rels/notesSlide2.xml.rels>&#65279;<?xml version="1.0" encoding="utf-8"?><Relationships xmlns="http://schemas.openxmlformats.org/package/2006/relationships"><Relationship Type="http://schemas.openxmlformats.org/officeDocument/2006/relationships/slide" Target="/ppt/slides/slide2.xml" Id="R2514335c3b2241fd" /><Relationship Type="http://schemas.openxmlformats.org/officeDocument/2006/relationships/notesMaster" Target="/ppt/notesMasters/notesMaster1.xml" Id="R0e913bd7ad1543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eb7a69133ff64656" /><Relationship Type="http://schemas.openxmlformats.org/officeDocument/2006/relationships/notesMaster" Target="/ppt/notesMasters/notesMaster1.xml" Id="R8ba115bcab344298" /></Relationships>
</file>

<file path=ppt/notesSlides/_rels/notesSlide4.xml.rels>&#65279;<?xml version="1.0" encoding="utf-8"?><Relationships xmlns="http://schemas.openxmlformats.org/package/2006/relationships"><Relationship Type="http://schemas.openxmlformats.org/officeDocument/2006/relationships/slide" Target="/ppt/slides/slide4.xml" Id="Rb7a4b54f5a20486d" /><Relationship Type="http://schemas.openxmlformats.org/officeDocument/2006/relationships/notesMaster" Target="/ppt/notesMasters/notesMaster1.xml" Id="Rb820772ccb8c4365" /></Relationships>
</file>

<file path=ppt/notesSlides/_rels/notesSlide5.xml.rels>&#65279;<?xml version="1.0" encoding="utf-8"?><Relationships xmlns="http://schemas.openxmlformats.org/package/2006/relationships"><Relationship Type="http://schemas.openxmlformats.org/officeDocument/2006/relationships/slide" Target="/ppt/slides/slide5.xml" Id="R7c16ba0510904c7f" /><Relationship Type="http://schemas.openxmlformats.org/officeDocument/2006/relationships/notesMaster" Target="/ppt/notesMasters/notesMaster1.xml" Id="R7f1c5f2bd43f431a"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b3bc175aa5460c" /><Relationship Type="http://schemas.openxmlformats.org/officeDocument/2006/relationships/notesMaster" Target="/ppt/notesMasters/notesMaster1.xml" Id="R2bfabe9c9b944259" /></Relationships>
</file>

<file path=ppt/notesSlides/_rels/notesSlide7.xml.rels>&#65279;<?xml version="1.0" encoding="utf-8"?><Relationships xmlns="http://schemas.openxmlformats.org/package/2006/relationships"><Relationship Type="http://schemas.openxmlformats.org/officeDocument/2006/relationships/slide" Target="/ppt/slides/slide7.xml" Id="R3e20012ff08f4813" /><Relationship Type="http://schemas.openxmlformats.org/officeDocument/2006/relationships/notesMaster" Target="/ppt/notesMasters/notesMaster1.xml" Id="R5e241838ee104c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材料用于业主就入口整改事项向开发商提出正式意见。目前仅确认后续需要整改，具体范围、方式和最终效果尚未明确。相关争议可能涉及订约诚信、具体销售说明和允诺、规划设计变更通知等法律规则；具体适用及责任范围，以合同、宣传材料、审批文件、实际影响及主管部门意见为准。请开发商就整改依据、书面方案、品质补救及补偿安排作出回复。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业主关注的不只是几级台阶，而是入口从街道到门厅之间的空间过渡。目前不能预设整改方式。开发商应说明整改范围、具体方式和最终效果，并提出相应的入口品质补救措施。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图中的红圈和箭头为业主标注，只用于说明目前沟通所指位置。请开发商书面确认涉及范围、规划红线关系、整改依据、具体方式、最终设计边界和效果。图片由业主提供。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片由业主提供，展示销售现场沙盘中的临街入口。该入口采用横向门廊和较大尺度雨棚。业主认为其与目前掌握的大门方案存在差异，请开发商书面说明沙盘对应的方案版本、调整时间和销售阶段告知情况。具体差异及责任认定，以开发商书面方案、审批图纸、销售材料和最终实施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列明初步法律依据：一、《中华人民共和国民法典》第五百条规定订约阶段故意隐瞒与订立合同有关的重要事实、提供虚假情况或者有其他违背诚信原则的行为，造成对方损失的，应承担赔偿责任。二、《最高人民法院关于审理商品房买卖合同纠纷案件适用法律若干问题的解释》第三条规定，对开发规划范围内房屋及相关设施作出的具体说明和允诺，如对合同订立及价格有重大影响，可以构成合同内容。三、《商品房销售管理办法》第二十四条规定，特定规划、设计变更影响商品房质量或者使用功能时，开发企业负有书面通知义务。上述规则是否适用于本项目及责任范围，仍应结合合同、宣传材料、审批文件、实际影响及主管部门意见认定。</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整改方案应在合法红线范围内尽量保留原销售展示所体现的入口品质。若整改导致原有效果无法实现，开发商应提出等效品质提升或合理补偿方案，并与业主正式协商。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要求开发商提交书面整改方案并安排正式沟通，明确整改依据、范围、实施方式、最终效果和时间计划。如不能作出合理说明或形成解决方案，业主将补充材料，并向相关主管部门进一步反映。</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1feed7d290423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5643f6c1db04d2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297515176142d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4004f44b0be4ac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1f67d68fa5f49c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99f6c17318345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33255FA-B1E7-4455-A8BA-037E1BF69F11}"/>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231D07C-1692-462F-9BF2-44C0B7ABFF3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9091970-395A-49EB-A562-7272E00C93C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BBFBD6C-139E-4672-B218-37B36157878D}"/>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D747C96-1044-4533-B3E9-7B0A91262CB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BAF9CB4-7C93-4582-B38A-194AED7CA86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3F85A7C-DCC0-4A66-81C5-BB6954E65F6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0483DE1-0752-4E7D-97C6-93F917CE620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B63E6A8-2650-4529-A946-22FEFC9A963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0B48B2E-3EEF-4580-8620-ACB1C5B9B8B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E3421ED-7CBA-4F84-B45F-AD93970C2B6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7E27554-87D8-4800-982E-F72B33C9534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32529F2-81F7-4B8B-B6E9-7308F370BFA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247E27B-9AE7-49D7-87CA-3567407F29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61A230A-68F3-4DA9-9175-D52CF72EF33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c358e5305c4b3b" /><Relationship Type="http://schemas.openxmlformats.org/officeDocument/2006/relationships/slideLayout" Target="/ppt/slideLayouts/slideLayout1.xml" Id="R96d00f4be0a84f3d" /><Relationship Type="http://schemas.openxmlformats.org/officeDocument/2006/relationships/slideLayout" Target="/ppt/slideLayouts/slideLayout2.xml" Id="R3663809aa27c435e" /><Relationship Type="http://schemas.openxmlformats.org/officeDocument/2006/relationships/slideLayout" Target="/ppt/slideLayouts/slideLayout3.xml" Id="R7415a8bc402b4dd4" /><Relationship Type="http://schemas.openxmlformats.org/officeDocument/2006/relationships/slideLayout" Target="/ppt/slideLayouts/slideLayout4.xml" Id="R916bc936f9cf4c15" /><Relationship Type="http://schemas.openxmlformats.org/officeDocument/2006/relationships/slideLayout" Target="/ppt/slideLayouts/slideLayout5.xml" Id="R1677390c14f6423d" /><Relationship Type="http://schemas.openxmlformats.org/officeDocument/2006/relationships/slideLayout" Target="/ppt/slideLayouts/slideLayout6.xml" Id="R2407b49223664b7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6d00f4be0a84f3d"/>
    <p:sldLayoutId xmlns:r="http://schemas.openxmlformats.org/officeDocument/2006/relationships" id="2147483650" r:id="R3663809aa27c435e"/>
    <p:sldLayoutId xmlns:r="http://schemas.openxmlformats.org/officeDocument/2006/relationships" id="2147483651" r:id="R7415a8bc402b4dd4"/>
    <p:sldLayoutId xmlns:r="http://schemas.openxmlformats.org/officeDocument/2006/relationships" id="2147483652" r:id="R916bc936f9cf4c15"/>
    <p:sldLayoutId xmlns:r="http://schemas.openxmlformats.org/officeDocument/2006/relationships" id="2147483653" r:id="R1677390c14f6423d"/>
    <p:sldLayoutId xmlns:r="http://schemas.openxmlformats.org/officeDocument/2006/relationships" id="2147483654" r:id="R2407b49223664b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8af1ea7a92f498e" /><Relationship Type="http://schemas.openxmlformats.org/officeDocument/2006/relationships/image" Target="/ppt/media/image.jpeg" Id="R7d59faedcd054ed2" /><Relationship Type="http://schemas.openxmlformats.org/officeDocument/2006/relationships/notesSlide" Target="/ppt/notesSlides/notesSlide1.xml" Id="Rb56293e4215748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5e350f5b0314f20" /><Relationship Type="http://schemas.openxmlformats.org/officeDocument/2006/relationships/notesSlide" Target="/ppt/notesSlides/notesSlide2.xml" Id="R1282419b73054c5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f038d2d352a4f9f" /><Relationship Type="http://schemas.openxmlformats.org/officeDocument/2006/relationships/image" Target="/ppt/media/image2.jpeg" Id="Rbcb83d2e8681461c" /><Relationship Type="http://schemas.openxmlformats.org/officeDocument/2006/relationships/notesSlide" Target="/ppt/notesSlides/notesSlide3.xml" Id="R4e8dd08e2016452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e34e12628e54f0f" /><Relationship Type="http://schemas.openxmlformats.org/officeDocument/2006/relationships/image" Target="/ppt/media/image3.jpeg" Id="Rbca3b9d8f8aa4d9a" /><Relationship Type="http://schemas.openxmlformats.org/officeDocument/2006/relationships/notesSlide" Target="/ppt/notesSlides/notesSlide4.xml" Id="R320c67e73ab543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d2c6afc9fde4a16" /><Relationship Type="http://schemas.openxmlformats.org/officeDocument/2006/relationships/notesSlide" Target="/ppt/notesSlides/notesSlide5.xml" Id="R0767e3d257c94a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e94db43152c4ccd" /><Relationship Type="http://schemas.openxmlformats.org/officeDocument/2006/relationships/notesSlide" Target="/ppt/notesSlides/notesSlide6.xml" Id="R7c49c52a715a4a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9f521e4365d45fa" /><Relationship Type="http://schemas.openxmlformats.org/officeDocument/2006/relationships/notesSlide" Target="/ppt/notesSlides/notesSlide7.xml" Id="R1b73289955b34d79" /></Relationships>
</file>

<file path=ppt/slides/slide1.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d59faedcd054ed2"/>
          <a:srcRect xmlns:a="http://schemas.openxmlformats.org/drawingml/2006/main" l="0" t="0" r="0" b="0"/>
          <a:stretch xmlns:a="http://schemas.openxmlformats.org/drawingml/2006/main">
            <a:fillRect l="0" t="0" r="0" b="0"/>
          </a:stretch>
        </p:blipFill>
        <p:spPr>
          <a:xfrm xmlns:a="http://schemas.openxmlformats.org/drawingml/2006/main">
            <a:off x="7048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1CBAC2-EDF9-4916-8C07-D06C69824511}"/>
              </a:ext>
            </a:extLst>
          </p:cNvPr>
          <p:cNvSpPr>
            <a:spLocks xmlns:a="http://schemas.openxmlformats.org/drawingml/2006/main" noGrp="1"/>
          </p:cNvSpPr>
          <p:nvPr/>
        </p:nvSpPr>
        <p:spPr>
          <a:xfrm xmlns:a="http://schemas.openxmlformats.org/drawingml/2006/main">
            <a:off x="819150" y="1123950"/>
            <a:ext cx="5429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项目主入口</a:t>
            </a:r>
          </a:p>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整改事项</a:t>
            </a:r>
          </a:p>
        </p:txBody>
      </p:sp>
      <p:sp>
        <p:nvSpPr>
          <p:cNvPr id="3" name="">
            <a:extLst xmlns:a="http://schemas.openxmlformats.org/drawingml/2006/main">
              <a:ext uri="{FF2B5EF4-FFF2-40B4-BE49-F238E27FC236}">
                <a16:creationId xmlns:a16="http://schemas.microsoft.com/office/drawing/2014/main" id="{FE9785FE-C287-42BD-BFDD-FB52AD1B6DE3}"/>
              </a:ext>
            </a:extLst>
          </p:cNvPr>
          <p:cNvSpPr>
            <a:spLocks xmlns:a="http://schemas.openxmlformats.org/drawingml/2006/main" noGrp="1"/>
          </p:cNvSpPr>
          <p:nvPr/>
        </p:nvSpPr>
        <p:spPr>
          <a:xfrm xmlns:a="http://schemas.openxmlformats.org/drawingml/2006/main">
            <a:off x="857250" y="3143250"/>
            <a:ext cx="447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A8895E"/>
                </a:solidFill>
                <a:latin typeface="Alibaba PuHuiTi 3.0"/>
                <a:ea typeface="Alibaba PuHuiTi 3.0"/>
                <a:cs typeface="Alibaba PuHuiTi 3.0"/>
              </a:defRPr>
            </a:pPr>
            <a:r>
              <a:rPr sz="2550" b="1">
                <a:solidFill>
                  <a:srgbClr val="A8895E"/>
                </a:solidFill>
                <a:latin typeface="Alibaba PuHuiTi 3.0"/>
                <a:ea typeface="Alibaba PuHuiTi 3.0"/>
                <a:cs typeface="Alibaba PuHuiTi 3.0"/>
              </a:rPr>
              <a:t>法律依据 · 业主沟通意见</a:t>
            </a:r>
          </a:p>
        </p:txBody>
      </p:sp>
      <p:sp>
        <p:nvSpPr>
          <p:cNvPr id="4" name="">
            <a:extLst xmlns:a="http://schemas.openxmlformats.org/drawingml/2006/main">
              <a:ext uri="{FF2B5EF4-FFF2-40B4-BE49-F238E27FC236}">
                <a16:creationId xmlns:a16="http://schemas.microsoft.com/office/drawing/2014/main" id="{BC8D77CF-42B5-42F8-977B-81DC41DEBAB2}"/>
              </a:ext>
            </a:extLst>
          </p:cNvPr>
          <p:cNvSpPr>
            <a:spLocks xmlns:a="http://schemas.openxmlformats.org/drawingml/2006/main" noGrp="1"/>
          </p:cNvSpPr>
          <p:nvPr/>
        </p:nvSpPr>
        <p:spPr>
          <a:xfrm xmlns:a="http://schemas.openxmlformats.org/drawingml/2006/main">
            <a:off x="857250" y="40100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526159"/>
                </a:solidFill>
                <a:latin typeface="Alibaba PuHuiTi 3.0"/>
                <a:ea typeface="Alibaba PuHuiTi 3.0"/>
                <a:cs typeface="Alibaba PuHuiTi 3.0"/>
              </a:defRPr>
            </a:pPr>
            <a:r>
              <a:rPr sz="1800" b="0">
                <a:solidFill>
                  <a:srgbClr val="526159"/>
                </a:solidFill>
                <a:latin typeface="Alibaba PuHuiTi 3.0"/>
                <a:ea typeface="Alibaba PuHuiTi 3.0"/>
                <a:cs typeface="Alibaba PuHuiTi 3.0"/>
              </a:rPr>
              <a:t>销售展示与后续整改的矛盾，有明确法律规则可循</a:t>
            </a:r>
          </a:p>
        </p:txBody>
      </p:sp>
      <p:sp>
        <p:nvSpPr>
          <p:cNvPr id="5" name="">
            <a:extLst xmlns:a="http://schemas.openxmlformats.org/drawingml/2006/main">
              <a:ext uri="{FF2B5EF4-FFF2-40B4-BE49-F238E27FC236}">
                <a16:creationId xmlns:a16="http://schemas.microsoft.com/office/drawing/2014/main" id="{5EF2E0B6-1E6F-484C-9C2F-4F4219290CBA}"/>
              </a:ext>
            </a:extLst>
          </p:cNvPr>
          <p:cNvSpPr>
            <a:spLocks xmlns:a="http://schemas.openxmlformats.org/drawingml/2006/main" noGrp="1"/>
          </p:cNvSpPr>
          <p:nvPr/>
        </p:nvSpPr>
        <p:spPr>
          <a:xfrm xmlns:a="http://schemas.openxmlformats.org/drawingml/2006/main">
            <a:off x="857250" y="59626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业主联合沟通材料  2026.10</a:t>
            </a:r>
          </a:p>
        </p:txBody>
      </p:sp>
    </p:spTree>
    <p:extLst>
      <p:ext uri="{BB962C8B-B14F-4D97-AF65-F5344CB8AC3E}">
        <p14:creationId xmlns:p14="http://schemas.microsoft.com/office/powerpoint/2010/main" val="1473434592"/>
      </p:ext>
    </p:extLst>
  </p:cSld>
</p:sld>
</file>

<file path=ppt/slides/slide2.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BD909E-410F-420C-A5F7-423E2FE1DCA7}"/>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01</a:t>
            </a:r>
          </a:p>
        </p:txBody>
      </p:sp>
      <p:sp>
        <p:nvSpPr>
          <p:cNvPr id="2" name="">
            <a:extLst xmlns:a="http://schemas.openxmlformats.org/drawingml/2006/main">
              <a:ext uri="{FF2B5EF4-FFF2-40B4-BE49-F238E27FC236}">
                <a16:creationId xmlns:a16="http://schemas.microsoft.com/office/drawing/2014/main" id="{7B6876D9-E812-40DD-A11B-F595C2461F5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入口体验</a:t>
            </a:r>
          </a:p>
        </p:txBody>
      </p:sp>
      <p:sp>
        <p:nvSpPr>
          <p:cNvPr id="3" name="">
            <a:extLst xmlns:a="http://schemas.openxmlformats.org/drawingml/2006/main">
              <a:ext uri="{FF2B5EF4-FFF2-40B4-BE49-F238E27FC236}">
                <a16:creationId xmlns:a16="http://schemas.microsoft.com/office/drawing/2014/main" id="{D14261C8-52AB-48A7-ACE8-7499B680FEEC}"/>
              </a:ext>
            </a:extLst>
          </p:cNvPr>
          <p:cNvSpPr>
            <a:spLocks xmlns:a="http://schemas.openxmlformats.org/drawingml/2006/main" noGrp="1"/>
          </p:cNvSpPr>
          <p:nvPr/>
        </p:nvSpPr>
        <p:spPr>
          <a:xfrm xmlns:a="http://schemas.openxmlformats.org/drawingml/2006/main">
            <a:off x="1047750" y="2038350"/>
            <a:ext cx="9810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300" b="1">
                <a:solidFill>
                  <a:srgbClr val="FFFFFF"/>
                </a:solidFill>
                <a:latin typeface="Alibaba PuHuiTi 3.0"/>
                <a:ea typeface="Alibaba PuHuiTi 3.0"/>
                <a:cs typeface="Alibaba PuHuiTi 3.0"/>
              </a:defRPr>
            </a:pPr>
            <a:r>
              <a:rPr sz="3300" b="1">
                <a:solidFill>
                  <a:srgbClr val="FFFFFF"/>
                </a:solidFill>
                <a:latin typeface="Alibaba PuHuiTi 3.0"/>
                <a:ea typeface="Alibaba PuHuiTi 3.0"/>
                <a:cs typeface="Alibaba PuHuiTi 3.0"/>
              </a:rPr>
              <a:t>销售展示中的外延台阶，让入口与街道之间有了过渡，也形成更从容的归家尺度。</a:t>
            </a:r>
          </a:p>
        </p:txBody>
      </p:sp>
      <p:sp>
        <p:nvSpPr>
          <p:cNvPr id="4" name="">
            <a:extLst xmlns:a="http://schemas.openxmlformats.org/drawingml/2006/main">
              <a:ext uri="{FF2B5EF4-FFF2-40B4-BE49-F238E27FC236}">
                <a16:creationId xmlns:a16="http://schemas.microsoft.com/office/drawing/2014/main" id="{C887D6D8-437E-434C-928C-3FA1D6FE1AD0}"/>
              </a:ext>
            </a:extLst>
          </p:cNvPr>
          <p:cNvSpPr>
            <a:spLocks xmlns:a="http://schemas.openxmlformats.org/drawingml/2006/main" noGrp="1"/>
          </p:cNvSpPr>
          <p:nvPr/>
        </p:nvSpPr>
        <p:spPr>
          <a:xfrm xmlns:a="http://schemas.openxmlformats.org/drawingml/2006/main">
            <a:off x="2095500" y="4000500"/>
            <a:ext cx="800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025" b="0">
                <a:solidFill>
                  <a:srgbClr val="D8CCB8"/>
                </a:solidFill>
                <a:latin typeface="Alibaba PuHuiTi 3.0"/>
                <a:ea typeface="Alibaba PuHuiTi 3.0"/>
                <a:cs typeface="Alibaba PuHuiTi 3.0"/>
              </a:defRPr>
            </a:pPr>
            <a:r>
              <a:rPr sz="2025" b="0">
                <a:solidFill>
                  <a:srgbClr val="D8CCB8"/>
                </a:solidFill>
                <a:latin typeface="Alibaba PuHuiTi 3.0"/>
                <a:ea typeface="Alibaba PuHuiTi 3.0"/>
                <a:cs typeface="Alibaba PuHuiTi 3.0"/>
              </a:rPr>
              <a:t>后续整改方式和最终效果尚未明确，入口空间层次与整体质感可能受到影响。</a:t>
            </a:r>
          </a:p>
        </p:txBody>
      </p:sp>
      <p:sp>
        <p:nvSpPr>
          <p:cNvPr id="5" name="">
            <a:extLst xmlns:a="http://schemas.openxmlformats.org/drawingml/2006/main">
              <a:ext uri="{FF2B5EF4-FFF2-40B4-BE49-F238E27FC236}">
                <a16:creationId xmlns:a16="http://schemas.microsoft.com/office/drawing/2014/main" id="{7995069E-9BA8-4E2C-A3B6-98740FCE88BF}"/>
              </a:ext>
            </a:extLst>
          </p:cNvPr>
          <p:cNvSpPr>
            <a:spLocks xmlns:a="http://schemas.openxmlformats.org/drawingml/2006/main" noGrp="1"/>
          </p:cNvSpPr>
          <p:nvPr/>
        </p:nvSpPr>
        <p:spPr>
          <a:xfrm xmlns:a="http://schemas.openxmlformats.org/drawingml/2006/main">
            <a:off x="2476500" y="51435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0">
                <a:solidFill>
                  <a:srgbClr val="D9DED9"/>
                </a:solidFill>
                <a:latin typeface="Alibaba PuHuiTi 3.0"/>
                <a:ea typeface="Alibaba PuHuiTi 3.0"/>
                <a:cs typeface="Alibaba PuHuiTi 3.0"/>
              </a:defRPr>
            </a:pPr>
            <a:r>
              <a:rPr sz="1575" b="0">
                <a:solidFill>
                  <a:srgbClr val="D9DED9"/>
                </a:solidFill>
                <a:latin typeface="Alibaba PuHuiTi 3.0"/>
                <a:ea typeface="Alibaba PuHuiTi 3.0"/>
                <a:cs typeface="Alibaba PuHuiTi 3.0"/>
              </a:rPr>
              <a:t>开发商应说明整改范围、方式和最终效果，并提出品质补救及补偿安排。</a:t>
            </a:r>
          </a:p>
        </p:txBody>
      </p:sp>
      <p:sp>
        <p:nvSpPr>
          <p:cNvPr id="6" name="">
            <a:extLst xmlns:a="http://schemas.openxmlformats.org/drawingml/2006/main">
              <a:ext uri="{FF2B5EF4-FFF2-40B4-BE49-F238E27FC236}">
                <a16:creationId xmlns:a16="http://schemas.microsoft.com/office/drawing/2014/main" id="{11456A08-18FF-47CF-B553-5F85E623ECA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项目主入口整改事项  02</a:t>
            </a:r>
          </a:p>
        </p:txBody>
      </p:sp>
    </p:spTree>
    <p:extLst>
      <p:ext uri="{BB962C8B-B14F-4D97-AF65-F5344CB8AC3E}">
        <p14:creationId xmlns:p14="http://schemas.microsoft.com/office/powerpoint/2010/main" val="416751091"/>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70EA65-B972-4AEC-B367-F3493D37A10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02</a:t>
            </a:r>
          </a:p>
        </p:txBody>
      </p:sp>
      <p:sp>
        <p:nvSpPr>
          <p:cNvPr id="2" name="">
            <a:extLst xmlns:a="http://schemas.openxmlformats.org/drawingml/2006/main">
              <a:ext uri="{FF2B5EF4-FFF2-40B4-BE49-F238E27FC236}">
                <a16:creationId xmlns:a16="http://schemas.microsoft.com/office/drawing/2014/main" id="{9FAD9DAB-1995-4CC6-82DB-CE693501295F}"/>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后续整改可能涉及的入口位置</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bcb83d2e8681461c"/>
          <a:stretch xmlns:a="http://schemas.openxmlformats.org/drawingml/2006/main"/>
        </p:blipFill>
        <p:spPr>
          <a:xfrm xmlns:a="http://schemas.openxmlformats.org/drawingml/2006/main">
            <a:off x="1643640" y="1619250"/>
            <a:ext cx="5980545" cy="4381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F22EB0F-FBB8-4C62-8330-5702DD2B5A34}"/>
              </a:ext>
            </a:extLst>
          </p:cNvPr>
          <p:cNvSpPr>
            <a:spLocks xmlns:a="http://schemas.openxmlformats.org/drawingml/2006/main" noGrp="1"/>
          </p:cNvSpPr>
          <p:nvPr/>
        </p:nvSpPr>
        <p:spPr>
          <a:xfrm xmlns:a="http://schemas.openxmlformats.org/drawingml/2006/main">
            <a:off x="9096375" y="2047875"/>
            <a:ext cx="2381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202824"/>
                </a:solidFill>
                <a:latin typeface="Alibaba PuHuiTi 3.0"/>
                <a:ea typeface="Alibaba PuHuiTi 3.0"/>
                <a:cs typeface="Alibaba PuHuiTi 3.0"/>
              </a:defRPr>
            </a:pPr>
            <a:r>
              <a:rPr sz="2175" b="1">
                <a:solidFill>
                  <a:srgbClr val="202824"/>
                </a:solidFill>
                <a:latin typeface="Alibaba PuHuiTi 3.0"/>
                <a:ea typeface="Alibaba PuHuiTi 3.0"/>
                <a:cs typeface="Alibaba PuHuiTi 3.0"/>
              </a:rPr>
              <a:t>据目前告知，后续整改可能涉及规划道路一侧的入口。</a:t>
            </a:r>
          </a:p>
        </p:txBody>
      </p:sp>
      <p:sp>
        <p:nvSpPr>
          <p:cNvPr id="5" name="">
            <a:extLst xmlns:a="http://schemas.openxmlformats.org/drawingml/2006/main">
              <a:ext uri="{FF2B5EF4-FFF2-40B4-BE49-F238E27FC236}">
                <a16:creationId xmlns:a16="http://schemas.microsoft.com/office/drawing/2014/main" id="{3C8B55C0-887B-4775-A1F2-234C580AE3CF}"/>
              </a:ext>
            </a:extLst>
          </p:cNvPr>
          <p:cNvSpPr>
            <a:spLocks xmlns:a="http://schemas.openxmlformats.org/drawingml/2006/main" noGrp="1"/>
          </p:cNvSpPr>
          <p:nvPr/>
        </p:nvSpPr>
        <p:spPr>
          <a:xfrm xmlns:a="http://schemas.openxmlformats.org/drawingml/2006/main">
            <a:off x="9096375" y="3524250"/>
            <a:ext cx="2333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526159"/>
                </a:solidFill>
                <a:latin typeface="Alibaba PuHuiTi 3.0"/>
                <a:ea typeface="Alibaba PuHuiTi 3.0"/>
                <a:cs typeface="Alibaba PuHuiTi 3.0"/>
              </a:defRPr>
            </a:pPr>
            <a:r>
              <a:rPr sz="1500" b="0">
                <a:solidFill>
                  <a:srgbClr val="526159"/>
                </a:solidFill>
                <a:latin typeface="Alibaba PuHuiTi 3.0"/>
                <a:ea typeface="Alibaba PuHuiTi 3.0"/>
                <a:cs typeface="Alibaba PuHuiTi 3.0"/>
              </a:rPr>
              <a:t>红圈与箭头为业主标注，仅指示当前沟通位置。</a:t>
            </a:r>
          </a:p>
        </p:txBody>
      </p:sp>
      <p:sp>
        <p:nvSpPr>
          <p:cNvPr id="6" name="">
            <a:extLst xmlns:a="http://schemas.openxmlformats.org/drawingml/2006/main">
              <a:ext uri="{FF2B5EF4-FFF2-40B4-BE49-F238E27FC236}">
                <a16:creationId xmlns:a16="http://schemas.microsoft.com/office/drawing/2014/main" id="{74013F13-F6F2-46BD-BBF3-A8300250CC32}"/>
              </a:ext>
            </a:extLst>
          </p:cNvPr>
          <p:cNvSpPr>
            <a:spLocks xmlns:a="http://schemas.openxmlformats.org/drawingml/2006/main" noGrp="1"/>
          </p:cNvSpPr>
          <p:nvPr/>
        </p:nvSpPr>
        <p:spPr>
          <a:xfrm xmlns:a="http://schemas.openxmlformats.org/drawingml/2006/main">
            <a:off x="9096375" y="5029200"/>
            <a:ext cx="2333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A8895E"/>
                </a:solidFill>
                <a:latin typeface="Alibaba PuHuiTi 3.0"/>
                <a:ea typeface="Alibaba PuHuiTi 3.0"/>
                <a:cs typeface="Alibaba PuHuiTi 3.0"/>
              </a:defRPr>
            </a:pPr>
            <a:r>
              <a:rPr sz="1350" b="0">
                <a:solidFill>
                  <a:srgbClr val="A8895E"/>
                </a:solidFill>
                <a:latin typeface="Alibaba PuHuiTi 3.0"/>
                <a:ea typeface="Alibaba PuHuiTi 3.0"/>
                <a:cs typeface="Alibaba PuHuiTi 3.0"/>
              </a:rPr>
              <a:t>整改范围、边界及实施方式，以开发商书面方案及相关审批为准。</a:t>
            </a:r>
          </a:p>
        </p:txBody>
      </p:sp>
      <p:sp>
        <p:nvSpPr>
          <p:cNvPr id="7" name="">
            <a:extLst xmlns:a="http://schemas.openxmlformats.org/drawingml/2006/main">
              <a:ext uri="{FF2B5EF4-FFF2-40B4-BE49-F238E27FC236}">
                <a16:creationId xmlns:a16="http://schemas.microsoft.com/office/drawing/2014/main" id="{AF7D4C06-FBD4-476D-B539-1516B84B966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03</a:t>
            </a:r>
          </a:p>
        </p:txBody>
      </p:sp>
    </p:spTree>
    <p:extLst>
      <p:ext uri="{BB962C8B-B14F-4D97-AF65-F5344CB8AC3E}">
        <p14:creationId xmlns:p14="http://schemas.microsoft.com/office/powerpoint/2010/main" val="767455429"/>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0CD9EE-D074-4F91-9390-1B660E8F3E34}"/>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03</a:t>
            </a:r>
          </a:p>
        </p:txBody>
      </p:sp>
      <p:sp>
        <p:nvSpPr>
          <p:cNvPr id="2" name="">
            <a:extLst xmlns:a="http://schemas.openxmlformats.org/drawingml/2006/main">
              <a:ext uri="{FF2B5EF4-FFF2-40B4-BE49-F238E27FC236}">
                <a16:creationId xmlns:a16="http://schemas.microsoft.com/office/drawing/2014/main" id="{E936F430-6D1E-4E57-8092-F22E9F1045E7}"/>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销售沙盘展示与目前大门方案存在差异</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ca3b9d8f8aa4d9a"/>
          <a:srcRect xmlns:a="http://schemas.openxmlformats.org/drawingml/2006/main" l="0" t="6000" r="0" b="6000"/>
          <a:stretch xmlns:a="http://schemas.openxmlformats.org/drawingml/2006/main"/>
        </p:blipFill>
        <p:spPr>
          <a:xfrm xmlns:a="http://schemas.openxmlformats.org/drawingml/2006/main">
            <a:off x="781050" y="1666875"/>
            <a:ext cx="6858000" cy="44291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04597F0-220C-42B1-9E93-437DF3CF25D3}"/>
              </a:ext>
            </a:extLst>
          </p:cNvPr>
          <p:cNvSpPr>
            <a:spLocks xmlns:a="http://schemas.openxmlformats.org/drawingml/2006/main" noGrp="1"/>
          </p:cNvSpPr>
          <p:nvPr/>
        </p:nvSpPr>
        <p:spPr>
          <a:xfrm xmlns:a="http://schemas.openxmlformats.org/drawingml/2006/main">
            <a:off x="971550" y="4000500"/>
            <a:ext cx="2781300" cy="1657350"/>
          </a:xfrm>
          <a:prstGeom xmlns:a="http://schemas.openxmlformats.org/drawingml/2006/main" prst="roundRect">
            <a:avLst>
              <a:gd name="adj" fmla="val 4598"/>
            </a:avLst>
          </a:prstGeom>
          <a:noFill xmlns:a="http://schemas.openxmlformats.org/drawingml/2006/main"/>
          <a:ln xmlns:a="http://schemas.openxmlformats.org/drawingml/2006/main" w="28575">
            <a:solidFill>
              <a:srgbClr val="A8895E"/>
            </a:solidFill>
          </a:ln>
        </p:spPr>
      </p:sp>
      <p:sp>
        <p:nvSpPr>
          <p:cNvPr id="5" name="">
            <a:extLst xmlns:a="http://schemas.openxmlformats.org/drawingml/2006/main">
              <a:ext uri="{FF2B5EF4-FFF2-40B4-BE49-F238E27FC236}">
                <a16:creationId xmlns:a16="http://schemas.microsoft.com/office/drawing/2014/main" id="{A50BDC3B-D7EF-42D6-B2F2-094DDE77F13F}"/>
              </a:ext>
            </a:extLst>
          </p:cNvPr>
          <p:cNvSpPr>
            <a:spLocks xmlns:a="http://schemas.openxmlformats.org/drawingml/2006/main" noGrp="1"/>
          </p:cNvSpPr>
          <p:nvPr/>
        </p:nvSpPr>
        <p:spPr>
          <a:xfrm xmlns:a="http://schemas.openxmlformats.org/drawingml/2006/main">
            <a:off x="781050" y="6153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26159"/>
                </a:solidFill>
                <a:latin typeface="Alibaba PuHuiTi 3.0"/>
                <a:ea typeface="Alibaba PuHuiTi 3.0"/>
                <a:cs typeface="Alibaba PuHuiTi 3.0"/>
              </a:defRPr>
            </a:pPr>
            <a:r>
              <a:rPr sz="1050" b="0">
                <a:solidFill>
                  <a:srgbClr val="526159"/>
                </a:solidFill>
                <a:latin typeface="Alibaba PuHuiTi 3.0"/>
                <a:ea typeface="Alibaba PuHuiTi 3.0"/>
                <a:cs typeface="Alibaba PuHuiTi 3.0"/>
              </a:rPr>
              <a:t>金色框为业主标注，仅用于指出沙盘中的临街入口。</a:t>
            </a:r>
          </a:p>
        </p:txBody>
      </p:sp>
      <p:sp>
        <p:nvSpPr>
          <p:cNvPr id="6" name="">
            <a:extLst xmlns:a="http://schemas.openxmlformats.org/drawingml/2006/main">
              <a:ext uri="{FF2B5EF4-FFF2-40B4-BE49-F238E27FC236}">
                <a16:creationId xmlns:a16="http://schemas.microsoft.com/office/drawing/2014/main" id="{AD51D037-B96C-4947-8AC4-B8206091395D}"/>
              </a:ext>
            </a:extLst>
          </p:cNvPr>
          <p:cNvSpPr>
            <a:spLocks xmlns:a="http://schemas.openxmlformats.org/drawingml/2006/main" noGrp="1"/>
          </p:cNvSpPr>
          <p:nvPr/>
        </p:nvSpPr>
        <p:spPr>
          <a:xfrm xmlns:a="http://schemas.openxmlformats.org/drawingml/2006/main">
            <a:off x="8096250" y="180975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A8895E"/>
                </a:solidFill>
                <a:latin typeface="Alibaba PuHuiTi 3.0"/>
                <a:ea typeface="Alibaba PuHuiTi 3.0"/>
                <a:cs typeface="Alibaba PuHuiTi 3.0"/>
              </a:defRPr>
            </a:pPr>
            <a:r>
              <a:rPr sz="1500" b="1">
                <a:solidFill>
                  <a:srgbClr val="A8895E"/>
                </a:solidFill>
                <a:latin typeface="Alibaba PuHuiTi 3.0"/>
                <a:ea typeface="Alibaba PuHuiTi 3.0"/>
                <a:cs typeface="Alibaba PuHuiTi 3.0"/>
              </a:rPr>
              <a:t>沙盘展示</a:t>
            </a:r>
          </a:p>
        </p:txBody>
      </p:sp>
      <p:sp>
        <p:nvSpPr>
          <p:cNvPr id="7" name="">
            <a:extLst xmlns:a="http://schemas.openxmlformats.org/drawingml/2006/main">
              <a:ext uri="{FF2B5EF4-FFF2-40B4-BE49-F238E27FC236}">
                <a16:creationId xmlns:a16="http://schemas.microsoft.com/office/drawing/2014/main" id="{82FD10F8-976C-434B-A62A-92F8DE8A4C9B}"/>
              </a:ext>
            </a:extLst>
          </p:cNvPr>
          <p:cNvSpPr>
            <a:spLocks xmlns:a="http://schemas.openxmlformats.org/drawingml/2006/main" noGrp="1"/>
          </p:cNvSpPr>
          <p:nvPr/>
        </p:nvSpPr>
        <p:spPr>
          <a:xfrm xmlns:a="http://schemas.openxmlformats.org/drawingml/2006/main">
            <a:off x="8096250" y="2209800"/>
            <a:ext cx="32575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02824"/>
                </a:solidFill>
                <a:latin typeface="Alibaba PuHuiTi 3.0"/>
                <a:ea typeface="Alibaba PuHuiTi 3.0"/>
                <a:cs typeface="Alibaba PuHuiTi 3.0"/>
              </a:defRPr>
            </a:pPr>
            <a:r>
              <a:rPr sz="2325" b="1">
                <a:solidFill>
                  <a:srgbClr val="202824"/>
                </a:solidFill>
                <a:latin typeface="Alibaba PuHuiTi 3.0"/>
                <a:ea typeface="Alibaba PuHuiTi 3.0"/>
                <a:cs typeface="Alibaba PuHuiTi 3.0"/>
              </a:rPr>
              <a:t>临街入口形成明确门廊，雨棚尺度突出</a:t>
            </a:r>
          </a:p>
        </p:txBody>
      </p:sp>
      <p:sp>
        <p:nvSpPr>
          <p:cNvPr id="8" name="">
            <a:extLst xmlns:a="http://schemas.openxmlformats.org/drawingml/2006/main">
              <a:ext uri="{FF2B5EF4-FFF2-40B4-BE49-F238E27FC236}">
                <a16:creationId xmlns:a16="http://schemas.microsoft.com/office/drawing/2014/main" id="{59CB3DEA-517A-4290-8841-2CD330246538}"/>
              </a:ext>
            </a:extLst>
          </p:cNvPr>
          <p:cNvSpPr>
            <a:spLocks xmlns:a="http://schemas.openxmlformats.org/drawingml/2006/main" noGrp="1"/>
          </p:cNvSpPr>
          <p:nvPr/>
        </p:nvSpPr>
        <p:spPr>
          <a:xfrm xmlns:a="http://schemas.openxmlformats.org/drawingml/2006/main">
            <a:off x="8096250" y="34290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A8895E"/>
                </a:solidFill>
                <a:latin typeface="Alibaba PuHuiTi 3.0"/>
                <a:ea typeface="Alibaba PuHuiTi 3.0"/>
                <a:cs typeface="Alibaba PuHuiTi 3.0"/>
              </a:defRPr>
            </a:pPr>
            <a:r>
              <a:rPr sz="1500" b="1">
                <a:solidFill>
                  <a:srgbClr val="A8895E"/>
                </a:solidFill>
                <a:latin typeface="Alibaba PuHuiTi 3.0"/>
                <a:ea typeface="Alibaba PuHuiTi 3.0"/>
                <a:cs typeface="Alibaba PuHuiTi 3.0"/>
              </a:rPr>
              <a:t>目前掌握情况</a:t>
            </a:r>
          </a:p>
        </p:txBody>
      </p:sp>
      <p:sp>
        <p:nvSpPr>
          <p:cNvPr id="9" name="">
            <a:extLst xmlns:a="http://schemas.openxmlformats.org/drawingml/2006/main">
              <a:ext uri="{FF2B5EF4-FFF2-40B4-BE49-F238E27FC236}">
                <a16:creationId xmlns:a16="http://schemas.microsoft.com/office/drawing/2014/main" id="{5D7139CE-6924-4CF1-8A71-56B19853223C}"/>
              </a:ext>
            </a:extLst>
          </p:cNvPr>
          <p:cNvSpPr>
            <a:spLocks xmlns:a="http://schemas.openxmlformats.org/drawingml/2006/main" noGrp="1"/>
          </p:cNvSpPr>
          <p:nvPr/>
        </p:nvSpPr>
        <p:spPr>
          <a:xfrm xmlns:a="http://schemas.openxmlformats.org/drawingml/2006/main">
            <a:off x="8096250" y="3829050"/>
            <a:ext cx="32575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159"/>
                </a:solidFill>
                <a:latin typeface="Alibaba PuHuiTi 3.0"/>
                <a:ea typeface="Alibaba PuHuiTi 3.0"/>
                <a:cs typeface="Alibaba PuHuiTi 3.0"/>
              </a:defRPr>
            </a:pPr>
            <a:r>
              <a:rPr sz="1500" b="0">
                <a:solidFill>
                  <a:srgbClr val="526159"/>
                </a:solidFill>
                <a:latin typeface="Alibaba PuHuiTi 3.0"/>
                <a:ea typeface="Alibaba PuHuiTi 3.0"/>
                <a:cs typeface="Alibaba PuHuiTi 3.0"/>
              </a:rPr>
              <a:t>据业主目前掌握材料，现阶段大门方案在形态、尺度和景观组织上与该展示不一致。</a:t>
            </a:r>
          </a:p>
        </p:txBody>
      </p:sp>
      <p:sp>
        <p:nvSpPr>
          <p:cNvPr id="10" name="">
            <a:extLst xmlns:a="http://schemas.openxmlformats.org/drawingml/2006/main">
              <a:ext uri="{FF2B5EF4-FFF2-40B4-BE49-F238E27FC236}">
                <a16:creationId xmlns:a16="http://schemas.microsoft.com/office/drawing/2014/main" id="{6BF2E8C8-19DA-477B-A86E-C690338CB664}"/>
              </a:ext>
            </a:extLst>
          </p:cNvPr>
          <p:cNvSpPr>
            <a:spLocks xmlns:a="http://schemas.openxmlformats.org/drawingml/2006/main" noGrp="1"/>
          </p:cNvSpPr>
          <p:nvPr/>
        </p:nvSpPr>
        <p:spPr>
          <a:xfrm xmlns:a="http://schemas.openxmlformats.org/drawingml/2006/main">
            <a:off x="8096250" y="5048250"/>
            <a:ext cx="3257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02824"/>
                </a:solidFill>
                <a:latin typeface="Alibaba PuHuiTi 3.0"/>
                <a:ea typeface="Alibaba PuHuiTi 3.0"/>
                <a:cs typeface="Alibaba PuHuiTi 3.0"/>
              </a:defRPr>
            </a:pPr>
            <a:r>
              <a:rPr sz="1725" b="1">
                <a:solidFill>
                  <a:srgbClr val="202824"/>
                </a:solidFill>
                <a:latin typeface="Alibaba PuHuiTi 3.0"/>
                <a:ea typeface="Alibaba PuHuiTi 3.0"/>
                <a:cs typeface="Alibaba PuHuiTi 3.0"/>
              </a:rPr>
              <a:t>请开发商书面说明</a:t>
            </a:r>
          </a:p>
        </p:txBody>
      </p:sp>
      <p:sp>
        <p:nvSpPr>
          <p:cNvPr id="11" name="">
            <a:extLst xmlns:a="http://schemas.openxmlformats.org/drawingml/2006/main">
              <a:ext uri="{FF2B5EF4-FFF2-40B4-BE49-F238E27FC236}">
                <a16:creationId xmlns:a16="http://schemas.microsoft.com/office/drawing/2014/main" id="{D570C7E9-3892-41DB-B9D0-588C4205488C}"/>
              </a:ext>
            </a:extLst>
          </p:cNvPr>
          <p:cNvSpPr>
            <a:spLocks xmlns:a="http://schemas.openxmlformats.org/drawingml/2006/main" noGrp="1"/>
          </p:cNvSpPr>
          <p:nvPr/>
        </p:nvSpPr>
        <p:spPr>
          <a:xfrm xmlns:a="http://schemas.openxmlformats.org/drawingml/2006/main">
            <a:off x="8096250" y="5467350"/>
            <a:ext cx="3257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沙盘对应的方案版本、调整时间，以及销售阶段是否已向购房人明确告知。</a:t>
            </a:r>
          </a:p>
        </p:txBody>
      </p:sp>
      <p:sp>
        <p:nvSpPr>
          <p:cNvPr id="12" name="">
            <a:extLst xmlns:a="http://schemas.openxmlformats.org/drawingml/2006/main">
              <a:ext uri="{FF2B5EF4-FFF2-40B4-BE49-F238E27FC236}">
                <a16:creationId xmlns:a16="http://schemas.microsoft.com/office/drawing/2014/main" id="{0715F933-1483-4E35-B3FE-14B3DE1E0BDF}"/>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04</a:t>
            </a:r>
          </a:p>
        </p:txBody>
      </p:sp>
    </p:spTree>
    <p:extLst>
      <p:ext uri="{BB962C8B-B14F-4D97-AF65-F5344CB8AC3E}">
        <p14:creationId xmlns:p14="http://schemas.microsoft.com/office/powerpoint/2010/main" val="1765823738"/>
      </p:ext>
    </p:extLst>
  </p:cSld>
</p:sld>
</file>

<file path=ppt/slides/slide5.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DEB7EC-D9F2-4BCB-801F-520B67DF7DBC}"/>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04</a:t>
            </a:r>
          </a:p>
        </p:txBody>
      </p:sp>
      <p:sp>
        <p:nvSpPr>
          <p:cNvPr id="2" name="">
            <a:extLst xmlns:a="http://schemas.openxmlformats.org/drawingml/2006/main">
              <a:ext uri="{FF2B5EF4-FFF2-40B4-BE49-F238E27FC236}">
                <a16:creationId xmlns:a16="http://schemas.microsoft.com/office/drawing/2014/main" id="{4CF71F2E-75F7-43DD-B402-D89B20AA6CE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销售展示与后续整改的矛盾，有法可依</a:t>
            </a:r>
          </a:p>
        </p:txBody>
      </p:sp>
      <p:sp>
        <p:nvSpPr>
          <p:cNvPr id="3" name="">
            <a:extLst xmlns:a="http://schemas.openxmlformats.org/drawingml/2006/main">
              <a:ext uri="{FF2B5EF4-FFF2-40B4-BE49-F238E27FC236}">
                <a16:creationId xmlns:a16="http://schemas.microsoft.com/office/drawing/2014/main" id="{6ED8D6D4-C6B7-4D4B-97A6-2C98203E9F06}"/>
              </a:ext>
            </a:extLst>
          </p:cNvPr>
          <p:cNvSpPr>
            <a:spLocks xmlns:a="http://schemas.openxmlformats.org/drawingml/2006/main" noGrp="1"/>
          </p:cNvSpPr>
          <p:nvPr/>
        </p:nvSpPr>
        <p:spPr>
          <a:xfrm xmlns:a="http://schemas.openxmlformats.org/drawingml/2006/main">
            <a:off x="1047750" y="195262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01</a:t>
            </a:r>
          </a:p>
        </p:txBody>
      </p:sp>
      <p:sp>
        <p:nvSpPr>
          <p:cNvPr id="4" name="">
            <a:extLst xmlns:a="http://schemas.openxmlformats.org/drawingml/2006/main">
              <a:ext uri="{FF2B5EF4-FFF2-40B4-BE49-F238E27FC236}">
                <a16:creationId xmlns:a16="http://schemas.microsoft.com/office/drawing/2014/main" id="{D51C5FF4-0BCD-4249-8EAF-859E76E49D37}"/>
              </a:ext>
            </a:extLst>
          </p:cNvPr>
          <p:cNvSpPr>
            <a:spLocks xmlns:a="http://schemas.openxmlformats.org/drawingml/2006/main" noGrp="1"/>
          </p:cNvSpPr>
          <p:nvPr/>
        </p:nvSpPr>
        <p:spPr>
          <a:xfrm xmlns:a="http://schemas.openxmlformats.org/drawingml/2006/main">
            <a:off x="2095500" y="195262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销售展示与后续整改出现矛盾</a:t>
            </a:r>
          </a:p>
        </p:txBody>
      </p:sp>
      <p:sp>
        <p:nvSpPr>
          <p:cNvPr id="5" name="">
            <a:extLst xmlns:a="http://schemas.openxmlformats.org/drawingml/2006/main">
              <a:ext uri="{FF2B5EF4-FFF2-40B4-BE49-F238E27FC236}">
                <a16:creationId xmlns:a16="http://schemas.microsoft.com/office/drawing/2014/main" id="{0BA6B6BE-C980-453F-B564-1FD60FD4DAD9}"/>
              </a:ext>
            </a:extLst>
          </p:cNvPr>
          <p:cNvSpPr>
            <a:spLocks xmlns:a="http://schemas.openxmlformats.org/drawingml/2006/main" noGrp="1"/>
          </p:cNvSpPr>
          <p:nvPr/>
        </p:nvSpPr>
        <p:spPr>
          <a:xfrm xmlns:a="http://schemas.openxmlformats.org/drawingml/2006/main">
            <a:off x="2095500" y="2571750"/>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购房时展示方案包含外延台阶。开发商后续称该区域涉及市政道路红线并需整改，但具体方案和最终效果尚未明确。</a:t>
            </a:r>
          </a:p>
        </p:txBody>
      </p:sp>
      <p:sp>
        <p:nvSpPr>
          <p:cNvPr id="6" name="">
            <a:extLst xmlns:a="http://schemas.openxmlformats.org/drawingml/2006/main">
              <a:ext uri="{FF2B5EF4-FFF2-40B4-BE49-F238E27FC236}">
                <a16:creationId xmlns:a16="http://schemas.microsoft.com/office/drawing/2014/main" id="{F6E5E8B8-11BE-4FC8-9483-89CEA6311346}"/>
              </a:ext>
            </a:extLst>
          </p:cNvPr>
          <p:cNvSpPr>
            <a:spLocks xmlns:a="http://schemas.openxmlformats.org/drawingml/2006/main" noGrp="1"/>
          </p:cNvSpPr>
          <p:nvPr/>
        </p:nvSpPr>
        <p:spPr>
          <a:xfrm xmlns:a="http://schemas.openxmlformats.org/drawingml/2006/main">
            <a:off x="1047750" y="3333750"/>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02</a:t>
            </a:r>
          </a:p>
        </p:txBody>
      </p:sp>
      <p:sp>
        <p:nvSpPr>
          <p:cNvPr id="7" name="">
            <a:extLst xmlns:a="http://schemas.openxmlformats.org/drawingml/2006/main">
              <a:ext uri="{FF2B5EF4-FFF2-40B4-BE49-F238E27FC236}">
                <a16:creationId xmlns:a16="http://schemas.microsoft.com/office/drawing/2014/main" id="{53530DFB-B0EF-41E7-9847-ABE3BAD081F8}"/>
              </a:ext>
            </a:extLst>
          </p:cNvPr>
          <p:cNvSpPr>
            <a:spLocks xmlns:a="http://schemas.openxmlformats.org/drawingml/2006/main" noGrp="1"/>
          </p:cNvSpPr>
          <p:nvPr/>
        </p:nvSpPr>
        <p:spPr>
          <a:xfrm xmlns:a="http://schemas.openxmlformats.org/drawingml/2006/main">
            <a:off x="2095500" y="3333750"/>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已知未告知，可能涉及缔约过失责任</a:t>
            </a:r>
          </a:p>
        </p:txBody>
      </p:sp>
      <p:sp>
        <p:nvSpPr>
          <p:cNvPr id="8" name="">
            <a:extLst xmlns:a="http://schemas.openxmlformats.org/drawingml/2006/main">
              <a:ext uri="{FF2B5EF4-FFF2-40B4-BE49-F238E27FC236}">
                <a16:creationId xmlns:a16="http://schemas.microsoft.com/office/drawing/2014/main" id="{C526BF5C-D079-4285-A262-0D00B5DC415D}"/>
              </a:ext>
            </a:extLst>
          </p:cNvPr>
          <p:cNvSpPr>
            <a:spLocks xmlns:a="http://schemas.openxmlformats.org/drawingml/2006/main" noGrp="1"/>
          </p:cNvSpPr>
          <p:nvPr/>
        </p:nvSpPr>
        <p:spPr>
          <a:xfrm xmlns:a="http://schemas.openxmlformats.org/drawingml/2006/main">
            <a:off x="2095500" y="3952875"/>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《民法典》第500条要求遵守订约诚信；如故意隐瞒与订立合同有关的重要事实并造成损失，可能承担赔偿责任。</a:t>
            </a:r>
          </a:p>
        </p:txBody>
      </p:sp>
      <p:sp>
        <p:nvSpPr>
          <p:cNvPr id="9" name="">
            <a:extLst xmlns:a="http://schemas.openxmlformats.org/drawingml/2006/main">
              <a:ext uri="{FF2B5EF4-FFF2-40B4-BE49-F238E27FC236}">
                <a16:creationId xmlns:a16="http://schemas.microsoft.com/office/drawing/2014/main" id="{2C4DD6A7-A5B9-4A8D-A009-A96DFAC2E0AA}"/>
              </a:ext>
            </a:extLst>
          </p:cNvPr>
          <p:cNvSpPr>
            <a:spLocks xmlns:a="http://schemas.openxmlformats.org/drawingml/2006/main" noGrp="1"/>
          </p:cNvSpPr>
          <p:nvPr/>
        </p:nvSpPr>
        <p:spPr>
          <a:xfrm xmlns:a="http://schemas.openxmlformats.org/drawingml/2006/main">
            <a:off x="1047750" y="471487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03</a:t>
            </a:r>
          </a:p>
        </p:txBody>
      </p:sp>
      <p:sp>
        <p:nvSpPr>
          <p:cNvPr id="10" name="">
            <a:extLst xmlns:a="http://schemas.openxmlformats.org/drawingml/2006/main">
              <a:ext uri="{FF2B5EF4-FFF2-40B4-BE49-F238E27FC236}">
                <a16:creationId xmlns:a16="http://schemas.microsoft.com/office/drawing/2014/main" id="{72C5E26D-017E-4416-B10F-EE12C669BD04}"/>
              </a:ext>
            </a:extLst>
          </p:cNvPr>
          <p:cNvSpPr>
            <a:spLocks xmlns:a="http://schemas.openxmlformats.org/drawingml/2006/main" noGrp="1"/>
          </p:cNvSpPr>
          <p:nvPr/>
        </p:nvSpPr>
        <p:spPr>
          <a:xfrm xmlns:a="http://schemas.openxmlformats.org/drawingml/2006/main">
            <a:off x="2095500" y="471487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宣传承诺与设计变更，均有规则约束</a:t>
            </a:r>
          </a:p>
        </p:txBody>
      </p:sp>
      <p:sp>
        <p:nvSpPr>
          <p:cNvPr id="11" name="">
            <a:extLst xmlns:a="http://schemas.openxmlformats.org/drawingml/2006/main">
              <a:ext uri="{FF2B5EF4-FFF2-40B4-BE49-F238E27FC236}">
                <a16:creationId xmlns:a16="http://schemas.microsoft.com/office/drawing/2014/main" id="{8FCBBBA9-C551-4B77-B1EA-B86002C269B0}"/>
              </a:ext>
            </a:extLst>
          </p:cNvPr>
          <p:cNvSpPr>
            <a:spLocks xmlns:a="http://schemas.openxmlformats.org/drawingml/2006/main" noGrp="1"/>
          </p:cNvSpPr>
          <p:nvPr/>
        </p:nvSpPr>
        <p:spPr>
          <a:xfrm xmlns:a="http://schemas.openxmlformats.org/drawingml/2006/main">
            <a:off x="2095500" y="5334000"/>
            <a:ext cx="857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商品房买卖司法解释第3条关注具体销售说明和允诺；《商品房销售管理办法》第24条涉及规划、设计变更通知义务。具体适用以合同、宣传材料、审批文件及实际影响为准。</a:t>
            </a:r>
          </a:p>
        </p:txBody>
      </p:sp>
      <p:sp>
        <p:nvSpPr>
          <p:cNvPr id="12" name="">
            <a:extLst xmlns:a="http://schemas.openxmlformats.org/drawingml/2006/main">
              <a:ext uri="{FF2B5EF4-FFF2-40B4-BE49-F238E27FC236}">
                <a16:creationId xmlns:a16="http://schemas.microsoft.com/office/drawing/2014/main" id="{7EDD26B2-4CA3-434D-9370-BCC9C0CF0BFF}"/>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05</a:t>
            </a:r>
          </a:p>
        </p:txBody>
      </p:sp>
    </p:spTree>
    <p:extLst>
      <p:ext uri="{BB962C8B-B14F-4D97-AF65-F5344CB8AC3E}">
        <p14:creationId xmlns:p14="http://schemas.microsoft.com/office/powerpoint/2010/main" val="1853797301"/>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8B55D1-8B22-4EF0-BE59-6481B5A8542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05</a:t>
            </a:r>
          </a:p>
        </p:txBody>
      </p:sp>
      <p:sp>
        <p:nvSpPr>
          <p:cNvPr id="2" name="">
            <a:extLst xmlns:a="http://schemas.openxmlformats.org/drawingml/2006/main">
              <a:ext uri="{FF2B5EF4-FFF2-40B4-BE49-F238E27FC236}">
                <a16:creationId xmlns:a16="http://schemas.microsoft.com/office/drawing/2014/main" id="{CB56A847-CFDE-43C2-A745-139A6BAC01E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整改与补偿要求</a:t>
            </a:r>
          </a:p>
        </p:txBody>
      </p:sp>
      <p:sp>
        <p:nvSpPr>
          <p:cNvPr id="3" name="">
            <a:extLst xmlns:a="http://schemas.openxmlformats.org/drawingml/2006/main">
              <a:ext uri="{FF2B5EF4-FFF2-40B4-BE49-F238E27FC236}">
                <a16:creationId xmlns:a16="http://schemas.microsoft.com/office/drawing/2014/main" id="{05777699-8475-49DA-984C-809B5AF31A93}"/>
              </a:ext>
            </a:extLst>
          </p:cNvPr>
          <p:cNvSpPr>
            <a:spLocks xmlns:a="http://schemas.openxmlformats.org/drawingml/2006/main" noGrp="1"/>
          </p:cNvSpPr>
          <p:nvPr/>
        </p:nvSpPr>
        <p:spPr>
          <a:xfrm xmlns:a="http://schemas.openxmlformats.org/drawingml/2006/main">
            <a:off x="876300" y="1952625"/>
            <a:ext cx="438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A8895E"/>
                </a:solidFill>
                <a:latin typeface="Alibaba PuHuiTi 3.0"/>
                <a:ea typeface="Alibaba PuHuiTi 3.0"/>
                <a:cs typeface="Alibaba PuHuiTi 3.0"/>
              </a:defRPr>
            </a:pPr>
            <a:r>
              <a:rPr sz="1800" b="1">
                <a:solidFill>
                  <a:srgbClr val="A8895E"/>
                </a:solidFill>
                <a:latin typeface="Alibaba PuHuiTi 3.0"/>
                <a:ea typeface="Alibaba PuHuiTi 3.0"/>
                <a:cs typeface="Alibaba PuHuiTi 3.0"/>
              </a:rPr>
              <a:t>整改要求</a:t>
            </a:r>
          </a:p>
        </p:txBody>
      </p:sp>
      <p:sp>
        <p:nvSpPr>
          <p:cNvPr id="4" name="">
            <a:extLst xmlns:a="http://schemas.openxmlformats.org/drawingml/2006/main">
              <a:ext uri="{FF2B5EF4-FFF2-40B4-BE49-F238E27FC236}">
                <a16:creationId xmlns:a16="http://schemas.microsoft.com/office/drawing/2014/main" id="{142F0B9F-CC1C-4455-95FC-81432F94D20C}"/>
              </a:ext>
            </a:extLst>
          </p:cNvPr>
          <p:cNvSpPr>
            <a:spLocks xmlns:a="http://schemas.openxmlformats.org/drawingml/2006/main" noGrp="1"/>
          </p:cNvSpPr>
          <p:nvPr/>
        </p:nvSpPr>
        <p:spPr>
          <a:xfrm xmlns:a="http://schemas.openxmlformats.org/drawingml/2006/main">
            <a:off x="876300" y="2524125"/>
            <a:ext cx="4667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在合法红线范围内</a:t>
            </a:r>
          </a:p>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保留入口整体品质</a:t>
            </a:r>
          </a:p>
        </p:txBody>
      </p:sp>
      <p:sp>
        <p:nvSpPr>
          <p:cNvPr id="5" name="">
            <a:extLst xmlns:a="http://schemas.openxmlformats.org/drawingml/2006/main">
              <a:ext uri="{FF2B5EF4-FFF2-40B4-BE49-F238E27FC236}">
                <a16:creationId xmlns:a16="http://schemas.microsoft.com/office/drawing/2014/main" id="{0C0E0847-5550-4023-9697-4EB9EAB449FF}"/>
              </a:ext>
            </a:extLst>
          </p:cNvPr>
          <p:cNvSpPr>
            <a:spLocks xmlns:a="http://schemas.openxmlformats.org/drawingml/2006/main" noGrp="1"/>
          </p:cNvSpPr>
          <p:nvPr/>
        </p:nvSpPr>
        <p:spPr>
          <a:xfrm xmlns:a="http://schemas.openxmlformats.org/drawingml/2006/main">
            <a:off x="876300" y="3952875"/>
            <a:ext cx="4667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526159"/>
                </a:solidFill>
                <a:latin typeface="Alibaba PuHuiTi 3.0"/>
                <a:ea typeface="Alibaba PuHuiTi 3.0"/>
                <a:cs typeface="Alibaba PuHuiTi 3.0"/>
              </a:defRPr>
            </a:pPr>
            <a:r>
              <a:rPr sz="1725" b="0">
                <a:solidFill>
                  <a:srgbClr val="526159"/>
                </a:solidFill>
                <a:latin typeface="Alibaba PuHuiTi 3.0"/>
                <a:ea typeface="Alibaba PuHuiTi 3.0"/>
                <a:cs typeface="Alibaba PuHuiTi 3.0"/>
              </a:rPr>
              <a:t>整改方案应明确入口尺度、通行组织与台阶或坡道处理方式，同时协调材质、灯光和景观关系。</a:t>
            </a:r>
          </a:p>
        </p:txBody>
      </p:sp>
      <p:sp>
        <p:nvSpPr>
          <p:cNvPr id="6" name="">
            <a:extLst xmlns:a="http://schemas.openxmlformats.org/drawingml/2006/main">
              <a:ext uri="{FF2B5EF4-FFF2-40B4-BE49-F238E27FC236}">
                <a16:creationId xmlns:a16="http://schemas.microsoft.com/office/drawing/2014/main" id="{3158334B-3AA6-463B-9889-6F3A09D25A05}"/>
              </a:ext>
            </a:extLst>
          </p:cNvPr>
          <p:cNvSpPr>
            <a:spLocks xmlns:a="http://schemas.openxmlformats.org/drawingml/2006/main" noGrp="1"/>
          </p:cNvSpPr>
          <p:nvPr/>
        </p:nvSpPr>
        <p:spPr>
          <a:xfrm xmlns:a="http://schemas.openxmlformats.org/drawingml/2006/main">
            <a:off x="6667500" y="1952625"/>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A8895E"/>
                </a:solidFill>
                <a:latin typeface="Alibaba PuHuiTi 3.0"/>
                <a:ea typeface="Alibaba PuHuiTi 3.0"/>
                <a:cs typeface="Alibaba PuHuiTi 3.0"/>
              </a:defRPr>
            </a:pPr>
            <a:r>
              <a:rPr sz="1800" b="1">
                <a:solidFill>
                  <a:srgbClr val="A8895E"/>
                </a:solidFill>
                <a:latin typeface="Alibaba PuHuiTi 3.0"/>
                <a:ea typeface="Alibaba PuHuiTi 3.0"/>
                <a:cs typeface="Alibaba PuHuiTi 3.0"/>
              </a:rPr>
              <a:t>整改导致原有效果无法实现时</a:t>
            </a:r>
          </a:p>
        </p:txBody>
      </p:sp>
      <p:sp>
        <p:nvSpPr>
          <p:cNvPr id="7" name="">
            <a:extLst xmlns:a="http://schemas.openxmlformats.org/drawingml/2006/main">
              <a:ext uri="{FF2B5EF4-FFF2-40B4-BE49-F238E27FC236}">
                <a16:creationId xmlns:a16="http://schemas.microsoft.com/office/drawing/2014/main" id="{BAFC565A-C423-4779-A21A-9D0CCC96F1F8}"/>
              </a:ext>
            </a:extLst>
          </p:cNvPr>
          <p:cNvSpPr>
            <a:spLocks xmlns:a="http://schemas.openxmlformats.org/drawingml/2006/main" noGrp="1"/>
          </p:cNvSpPr>
          <p:nvPr/>
        </p:nvSpPr>
        <p:spPr>
          <a:xfrm xmlns:a="http://schemas.openxmlformats.org/drawingml/2006/main">
            <a:off x="6667500" y="2524125"/>
            <a:ext cx="4524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提出等效的品质提升</a:t>
            </a:r>
          </a:p>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或合理补偿方案</a:t>
            </a:r>
          </a:p>
        </p:txBody>
      </p:sp>
      <p:sp>
        <p:nvSpPr>
          <p:cNvPr id="8" name="">
            <a:extLst xmlns:a="http://schemas.openxmlformats.org/drawingml/2006/main">
              <a:ext uri="{FF2B5EF4-FFF2-40B4-BE49-F238E27FC236}">
                <a16:creationId xmlns:a16="http://schemas.microsoft.com/office/drawing/2014/main" id="{B401BBEE-C4BF-40FD-BC1F-991724E63C46}"/>
              </a:ext>
            </a:extLst>
          </p:cNvPr>
          <p:cNvSpPr>
            <a:spLocks xmlns:a="http://schemas.openxmlformats.org/drawingml/2006/main" noGrp="1"/>
          </p:cNvSpPr>
          <p:nvPr/>
        </p:nvSpPr>
        <p:spPr>
          <a:xfrm xmlns:a="http://schemas.openxmlformats.org/drawingml/2006/main">
            <a:off x="6667500" y="3952875"/>
            <a:ext cx="45243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526159"/>
                </a:solidFill>
                <a:latin typeface="Alibaba PuHuiTi 3.0"/>
                <a:ea typeface="Alibaba PuHuiTi 3.0"/>
                <a:cs typeface="Alibaba PuHuiTi 3.0"/>
              </a:defRPr>
            </a:pPr>
            <a:r>
              <a:rPr sz="1725" b="0">
                <a:solidFill>
                  <a:srgbClr val="526159"/>
                </a:solidFill>
                <a:latin typeface="Alibaba PuHuiTi 3.0"/>
                <a:ea typeface="Alibaba PuHuiTi 3.0"/>
                <a:cs typeface="Alibaba PuHuiTi 3.0"/>
              </a:rPr>
              <a:t>开发商应提出其他公共区域的等效品质提升方案。如整改后仍存在明显体验差异，应与业主协商合理补偿。</a:t>
            </a:r>
          </a:p>
        </p:txBody>
      </p:sp>
      <p:sp>
        <p:nvSpPr>
          <p:cNvPr id="9" name="">
            <a:extLst xmlns:a="http://schemas.openxmlformats.org/drawingml/2006/main">
              <a:ext uri="{FF2B5EF4-FFF2-40B4-BE49-F238E27FC236}">
                <a16:creationId xmlns:a16="http://schemas.microsoft.com/office/drawing/2014/main" id="{8A724BDA-1E6B-48B2-9D7E-44988C973330}"/>
              </a:ext>
            </a:extLst>
          </p:cNvPr>
          <p:cNvSpPr>
            <a:spLocks xmlns:a="http://schemas.openxmlformats.org/drawingml/2006/main" noGrp="1"/>
          </p:cNvSpPr>
          <p:nvPr/>
        </p:nvSpPr>
        <p:spPr>
          <a:xfrm xmlns:a="http://schemas.openxmlformats.org/drawingml/2006/main">
            <a:off x="2905125" y="5734050"/>
            <a:ext cx="6381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0">
                <a:solidFill>
                  <a:srgbClr val="A8895E"/>
                </a:solidFill>
                <a:latin typeface="Alibaba PuHuiTi 3.0"/>
                <a:ea typeface="Alibaba PuHuiTi 3.0"/>
                <a:cs typeface="Alibaba PuHuiTi 3.0"/>
              </a:defRPr>
            </a:pPr>
            <a:r>
              <a:rPr sz="1425" b="0">
                <a:solidFill>
                  <a:srgbClr val="A8895E"/>
                </a:solidFill>
                <a:latin typeface="Alibaba PuHuiTi 3.0"/>
                <a:ea typeface="Alibaba PuHuiTi 3.0"/>
                <a:cs typeface="Alibaba PuHuiTi 3.0"/>
              </a:rPr>
              <a:t>补偿形式及标准应结合最终整改方案，与业主进行正式协商。</a:t>
            </a:r>
          </a:p>
        </p:txBody>
      </p:sp>
      <p:sp>
        <p:nvSpPr>
          <p:cNvPr id="10" name="">
            <a:extLst xmlns:a="http://schemas.openxmlformats.org/drawingml/2006/main">
              <a:ext uri="{FF2B5EF4-FFF2-40B4-BE49-F238E27FC236}">
                <a16:creationId xmlns:a16="http://schemas.microsoft.com/office/drawing/2014/main" id="{A3A2B85A-BA45-443A-A1D2-1D6A858149C4}"/>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06</a:t>
            </a:r>
          </a:p>
        </p:txBody>
      </p:sp>
    </p:spTree>
    <p:extLst>
      <p:ext uri="{BB962C8B-B14F-4D97-AF65-F5344CB8AC3E}">
        <p14:creationId xmlns:p14="http://schemas.microsoft.com/office/powerpoint/2010/main" val="472615871"/>
      </p:ext>
    </p:extLst>
  </p:cSld>
</p:sld>
</file>

<file path=ppt/slides/slide7.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5CF4D9-4791-46B8-83CC-F928AA760AA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06</a:t>
            </a:r>
          </a:p>
        </p:txBody>
      </p:sp>
      <p:sp>
        <p:nvSpPr>
          <p:cNvPr id="2" name="">
            <a:extLst xmlns:a="http://schemas.openxmlformats.org/drawingml/2006/main">
              <a:ext uri="{FF2B5EF4-FFF2-40B4-BE49-F238E27FC236}">
                <a16:creationId xmlns:a16="http://schemas.microsoft.com/office/drawing/2014/main" id="{1622C956-88FE-47EE-BD09-705424B6C3D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要求开发商书面回复</a:t>
            </a:r>
          </a:p>
        </p:txBody>
      </p:sp>
      <p:sp>
        <p:nvSpPr>
          <p:cNvPr id="3" name="">
            <a:extLst xmlns:a="http://schemas.openxmlformats.org/drawingml/2006/main">
              <a:ext uri="{FF2B5EF4-FFF2-40B4-BE49-F238E27FC236}">
                <a16:creationId xmlns:a16="http://schemas.microsoft.com/office/drawing/2014/main" id="{43A5B1BB-F569-4DBA-8F76-01A25DD5F7F6}"/>
              </a:ext>
            </a:extLst>
          </p:cNvPr>
          <p:cNvSpPr>
            <a:spLocks xmlns:a="http://schemas.openxmlformats.org/drawingml/2006/main" noGrp="1"/>
          </p:cNvSpPr>
          <p:nvPr/>
        </p:nvSpPr>
        <p:spPr>
          <a:xfrm xmlns:a="http://schemas.openxmlformats.org/drawingml/2006/main">
            <a:off x="1476375" y="2000250"/>
            <a:ext cx="9239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900" b="1">
                <a:solidFill>
                  <a:srgbClr val="FFFFFF"/>
                </a:solidFill>
                <a:latin typeface="Alibaba PuHuiTi 3.0"/>
                <a:ea typeface="Alibaba PuHuiTi 3.0"/>
                <a:cs typeface="Alibaba PuHuiTi 3.0"/>
              </a:defRPr>
            </a:pPr>
            <a:r>
              <a:rPr sz="3900" b="1">
                <a:solidFill>
                  <a:srgbClr val="FFFFFF"/>
                </a:solidFill>
                <a:latin typeface="Alibaba PuHuiTi 3.0"/>
                <a:ea typeface="Alibaba PuHuiTi 3.0"/>
                <a:cs typeface="Alibaba PuHuiTi 3.0"/>
              </a:rPr>
              <a:t>开发商需提交整改方案，</a:t>
            </a:r>
          </a:p>
          <a:p xmlns:a="http://schemas.openxmlformats.org/drawingml/2006/main">
            <a:pPr algn="ctr">
              <a:buNone/>
              <a:defRPr sz="3900" b="1">
                <a:solidFill>
                  <a:srgbClr val="FFFFFF"/>
                </a:solidFill>
                <a:latin typeface="Alibaba PuHuiTi 3.0"/>
                <a:ea typeface="Alibaba PuHuiTi 3.0"/>
                <a:cs typeface="Alibaba PuHuiTi 3.0"/>
              </a:defRPr>
            </a:pPr>
            <a:r>
              <a:rPr sz="3900" b="1">
                <a:solidFill>
                  <a:srgbClr val="FFFFFF"/>
                </a:solidFill>
                <a:latin typeface="Alibaba PuHuiTi 3.0"/>
                <a:ea typeface="Alibaba PuHuiTi 3.0"/>
                <a:cs typeface="Alibaba PuHuiTi 3.0"/>
              </a:rPr>
              <a:t>并安排正式沟通</a:t>
            </a:r>
          </a:p>
        </p:txBody>
      </p:sp>
      <p:sp>
        <p:nvSpPr>
          <p:cNvPr id="4" name="">
            <a:extLst xmlns:a="http://schemas.openxmlformats.org/drawingml/2006/main">
              <a:ext uri="{FF2B5EF4-FFF2-40B4-BE49-F238E27FC236}">
                <a16:creationId xmlns:a16="http://schemas.microsoft.com/office/drawing/2014/main" id="{DBDFBF31-98CE-4CFA-8F6A-689294AC30FB}"/>
              </a:ext>
            </a:extLst>
          </p:cNvPr>
          <p:cNvSpPr>
            <a:spLocks xmlns:a="http://schemas.openxmlformats.org/drawingml/2006/main" noGrp="1"/>
          </p:cNvSpPr>
          <p:nvPr/>
        </p:nvSpPr>
        <p:spPr>
          <a:xfrm xmlns:a="http://schemas.openxmlformats.org/drawingml/2006/main">
            <a:off x="2143125" y="3886200"/>
            <a:ext cx="790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75" b="0">
                <a:solidFill>
                  <a:srgbClr val="D8CCB8"/>
                </a:solidFill>
                <a:latin typeface="Alibaba PuHuiTi 3.0"/>
                <a:ea typeface="Alibaba PuHuiTi 3.0"/>
                <a:cs typeface="Alibaba PuHuiTi 3.0"/>
              </a:defRPr>
            </a:pPr>
            <a:r>
              <a:rPr sz="1875" b="0">
                <a:solidFill>
                  <a:srgbClr val="D8CCB8"/>
                </a:solidFill>
                <a:latin typeface="Alibaba PuHuiTi 3.0"/>
                <a:ea typeface="Alibaba PuHuiTi 3.0"/>
                <a:cs typeface="Alibaba PuHuiTi 3.0"/>
              </a:rPr>
              <a:t>设计、工程及有决策权限的负责人应参加沟通，说明整改范围、实施方式、最终效果和时间计划。</a:t>
            </a:r>
          </a:p>
        </p:txBody>
      </p:sp>
      <p:sp>
        <p:nvSpPr>
          <p:cNvPr id="5" name="">
            <a:extLst xmlns:a="http://schemas.openxmlformats.org/drawingml/2006/main">
              <a:ext uri="{FF2B5EF4-FFF2-40B4-BE49-F238E27FC236}">
                <a16:creationId xmlns:a16="http://schemas.microsoft.com/office/drawing/2014/main" id="{469DCBDF-6506-4716-B106-BD5B213F4AE6}"/>
              </a:ext>
            </a:extLst>
          </p:cNvPr>
          <p:cNvSpPr>
            <a:spLocks xmlns:a="http://schemas.openxmlformats.org/drawingml/2006/main" noGrp="1"/>
          </p:cNvSpPr>
          <p:nvPr/>
        </p:nvSpPr>
        <p:spPr>
          <a:xfrm xmlns:a="http://schemas.openxmlformats.org/drawingml/2006/main">
            <a:off x="2143125" y="5286375"/>
            <a:ext cx="7905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0">
                <a:solidFill>
                  <a:srgbClr val="D9DED9"/>
                </a:solidFill>
                <a:latin typeface="Alibaba PuHuiTi 3.0"/>
                <a:ea typeface="Alibaba PuHuiTi 3.0"/>
                <a:cs typeface="Alibaba PuHuiTi 3.0"/>
              </a:defRPr>
            </a:pPr>
            <a:r>
              <a:rPr sz="1500" b="0">
                <a:solidFill>
                  <a:srgbClr val="D9DED9"/>
                </a:solidFill>
                <a:latin typeface="Alibaba PuHuiTi 3.0"/>
                <a:ea typeface="Alibaba PuHuiTi 3.0"/>
                <a:cs typeface="Alibaba PuHuiTi 3.0"/>
              </a:rPr>
              <a:t>如开发商无法提供书面说明和合理解决方案，业主将补充材料，并向相关主管部门进一步反映。</a:t>
            </a:r>
          </a:p>
        </p:txBody>
      </p:sp>
      <p:sp>
        <p:nvSpPr>
          <p:cNvPr id="6" name="">
            <a:extLst xmlns:a="http://schemas.openxmlformats.org/drawingml/2006/main">
              <a:ext uri="{FF2B5EF4-FFF2-40B4-BE49-F238E27FC236}">
                <a16:creationId xmlns:a16="http://schemas.microsoft.com/office/drawing/2014/main" id="{36DA1188-2D6E-4CB1-BCE3-51FE68458CF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项目主入口整改事项  07</a:t>
            </a:r>
          </a:p>
        </p:txBody>
      </p:sp>
    </p:spTree>
    <p:extLst>
      <p:ext uri="{BB962C8B-B14F-4D97-AF65-F5344CB8AC3E}">
        <p14:creationId xmlns:p14="http://schemas.microsoft.com/office/powerpoint/2010/main" val="13727468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2026-10-03T11:35:04.6870000Z</dcterms:created>
  <dcterms:modified xsi:type="dcterms:W3CDTF">2026-10-03T11:35:04.6870000Z</dcterms:modified>
</coreProperties>
</file>
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b6433de5f74eb8" /><Relationship Type="http://schemas.openxmlformats.org/officeDocument/2006/relationships/extended-properties" Target="/docProps/app.xml" Id="Rf1ed56c24fc34cb3" /><Relationship Type="http://schemas.openxmlformats.org/officeDocument/2006/relationships/officeDocument" Target="/ppt/presentation.xml" Id="R138cbf02070d4783" /></Relationships>
</file>

<file path=ppt/presentation.xml><?xml version="1.0" encoding="utf-8"?>
<p:presentation xmlns:p="http://schemas.openxmlformats.org/presentationml/2006/main">
  <p:sldMasterIdLst>
    <p:sldMasterId xmlns:r="http://schemas.openxmlformats.org/officeDocument/2006/relationships" id="2147483648" r:id="R48d7f641dd01447c"/>
  </p:sldMasterIdLst>
  <p:notesMasterIdLst>
    <p:notesMasterId xmlns:r="http://schemas.openxmlformats.org/officeDocument/2006/relationships" r:id="Rb258a7e8dc0e4764"/>
  </p:notesMasterIdLst>
  <p:sldIdLst>
    <p:sldId xmlns:r="http://schemas.openxmlformats.org/officeDocument/2006/relationships" id="256" r:id="R8a884530b59340e8"/>
    <p:sldId xmlns:r="http://schemas.openxmlformats.org/officeDocument/2006/relationships" id="257" r:id="R0eb3a8875b5e4711"/>
    <p:sldId xmlns:r="http://schemas.openxmlformats.org/officeDocument/2006/relationships" id="258" r:id="R82ebc930ed35456e"/>
    <p:sldId xmlns:r="http://schemas.openxmlformats.org/officeDocument/2006/relationships" id="259" r:id="R0daaa09bb5b14908"/>
    <p:sldId xmlns:r="http://schemas.openxmlformats.org/officeDocument/2006/relationships" id="260" r:id="Rc0ce8d365a7c4c1d"/>
    <p:sldId xmlns:r="http://schemas.openxmlformats.org/officeDocument/2006/relationships" id="261" r:id="R2e40935cb02b4702"/>
    <p:sldId xmlns:r="http://schemas.openxmlformats.org/officeDocument/2006/relationships" id="262" r:id="R61c16f8072134414"/>
    <p:sldId xmlns:r="http://schemas.openxmlformats.org/officeDocument/2006/relationships" id="263" r:id="R0ee71165cbb7422d"/>
    <p:sldId xmlns:r="http://schemas.openxmlformats.org/officeDocument/2006/relationships" id="264" r:id="R3c5701afdbeb4c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f67c80150646ba" /><Relationship Type="http://schemas.openxmlformats.org/officeDocument/2006/relationships/slideMaster" Target="/ppt/slideMasters/slideMaster1.xml" Id="R48d7f641dd01447c" /><Relationship Type="http://schemas.openxmlformats.org/officeDocument/2006/relationships/notesMaster" Target="/ppt/notesMasters/notesMaster1.xml" Id="Rb258a7e8dc0e4764" /><Relationship Type="http://schemas.openxmlformats.org/officeDocument/2006/relationships/presProps" Target="/ppt/presProps.xml" Id="R20ee1ccab5ca4149" /><Relationship Type="http://schemas.openxmlformats.org/officeDocument/2006/relationships/tableStyles" Target="/ppt/tableStyles.xml" Id="R3dbf7ccc99b84c6e" /><Relationship Type="http://schemas.openxmlformats.org/officeDocument/2006/relationships/slide" Target="/ppt/slides/slide1.xml" Id="R8a884530b59340e8" /><Relationship Type="http://schemas.openxmlformats.org/officeDocument/2006/relationships/slide" Target="/ppt/slides/slide2.xml" Id="R0eb3a8875b5e4711" /><Relationship Type="http://schemas.openxmlformats.org/officeDocument/2006/relationships/slide" Target="/ppt/slides/slide3.xml" Id="R82ebc930ed35456e" /><Relationship Type="http://schemas.openxmlformats.org/officeDocument/2006/relationships/slide" Target="/ppt/slides/slide4.xml" Id="R0daaa09bb5b14908" /><Relationship Type="http://schemas.openxmlformats.org/officeDocument/2006/relationships/slide" Target="/ppt/slides/slide5.xml" Id="Rc0ce8d365a7c4c1d" /><Relationship Type="http://schemas.openxmlformats.org/officeDocument/2006/relationships/slide" Target="/ppt/slides/slide6.xml" Id="R2e40935cb02b4702" /><Relationship Type="http://schemas.openxmlformats.org/officeDocument/2006/relationships/slide" Target="/ppt/slides/slide7.xml" Id="R61c16f8072134414" /><Relationship Type="http://schemas.openxmlformats.org/officeDocument/2006/relationships/slide" Target="/ppt/slides/slide8.xml" Id="R0ee71165cbb7422d" /><Relationship Type="http://schemas.openxmlformats.org/officeDocument/2006/relationships/slide" Target="/ppt/slides/slide9.xml" Id="R3c5701afdbeb4c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6500f7c23042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44d5edca694d41" /><Relationship Type="http://schemas.openxmlformats.org/officeDocument/2006/relationships/notesMaster" Target="/ppt/notesMasters/notesMaster1.xml" Id="R168d9c42e75441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9ca26337cb4dda" /><Relationship Type="http://schemas.openxmlformats.org/officeDocument/2006/relationships/notesMaster" Target="/ppt/notesMasters/notesMaster1.xml" Id="Rac8f5f31f24741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bd8275d06e242b9" /><Relationship Type="http://schemas.openxmlformats.org/officeDocument/2006/relationships/notesMaster" Target="/ppt/notesMasters/notesMaster1.xml" Id="R628335e532ea49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3fa7c5634144e6" /><Relationship Type="http://schemas.openxmlformats.org/officeDocument/2006/relationships/notesMaster" Target="/ppt/notesMasters/notesMaster1.xml" Id="R1428f86090df46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9e99810a0e4904" /><Relationship Type="http://schemas.openxmlformats.org/officeDocument/2006/relationships/notesMaster" Target="/ppt/notesMasters/notesMaster1.xml" Id="Rcb2d00da196a4c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3d03562c9f4ae3" /><Relationship Type="http://schemas.openxmlformats.org/officeDocument/2006/relationships/notesMaster" Target="/ppt/notesMasters/notesMaster1.xml" Id="Re8eead09094240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2ffd9b71f24911" /><Relationship Type="http://schemas.openxmlformats.org/officeDocument/2006/relationships/notesMaster" Target="/ppt/notesMasters/notesMaster1.xml" Id="Ra8834a98543e48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7a8743ecc44bd8" /><Relationship Type="http://schemas.openxmlformats.org/officeDocument/2006/relationships/notesMaster" Target="/ppt/notesMasters/notesMaster1.xml" Id="R098773c1535449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327750e9424332" /><Relationship Type="http://schemas.openxmlformats.org/officeDocument/2006/relationships/notesMaster" Target="/ppt/notesMasters/notesMaster1.xml" Id="R23c6f03ef74c43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整改事项向开发商提出正式意见。目前仅确认后续需要整改，具体范围、方式和最终效果尚未明确。相关争议可能涉及订约诚信、具体销售说明和允诺、规划设计变更通知等法律规则；具体适用及责任范围，以合同、宣传材料、审批文件、实际影响及主管部门意见为准。请开发商就整改依据、书面方案和品质补救方案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业主关注的不只是几级台阶，而是入口从街道到门厅之间的空间过渡。目前不能预设整改方式。开发商应说明整改范围、具体方式和最终效果，并提出相应的入口品质补救措施。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图中的红圈和箭头为业主标注，只用于说明目前沟通所指位置。请开发商书面确认涉及范围、规划红线关系、整改依据、具体方式、最终设计边界和效果。图片由业主提供。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左图为业主拍摄的销售沙盘，右图为业主提供的目前大门方案。两图视角不同，本页仅对比可见的入口形态、雨棚与台阶尺度、景观组织。业主请求开发商书面说明方案版本、变更时间、审批依据和销售阶段告知情况。最终责任认定以合同、销售材料、审批文件及主管部门意见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要求订约阶段遵守诚信原则，不得故意隐瞒与订立合同有关的重要事实、提供虚假情况或有其他违背诚信原则的行为。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相关要求，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片由业主提供并标注，显示销售沙盘中大门、小区内部车道、人行道、市政道路及进车闸机的关系。小区内部车道紧邻大门出口，车辆动线与出口行人动线可能直接交叉。请开发商提交交通组织图，说明人车分流、减速、视距和步行缓冲措施。具体风险程度以正式交通设计、现场条件和专业复核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为业主提出的优先落地方向。如经交通组织和消防校核，小区内部车行路线具备优化条件，建议适当调整车行路线，为入口两侧释放更完整的造景空间，采用两株小罗汉松、纵向花坛和林下植物组合。该方向的景观层次更丰富。如车行路线无法调整，则采用横向花坛作为保底方案。参考图由业主提供，仅用于表达造景方向，不代表最终审批或施工结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为车道优化方案无法实施时的保底方案。两侧采用横向小花坛和小型罗汉松，控制突出尺度，保留入口对称秩序。花坛不得压缩必要通行空间，不得遮挡驾驶员视线，树池须完成防倾覆和排水设计。参考图由业主提供，仅用于表达横向小花坛方向。</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本页仅保留一项核心诉求：最终整改应保持入口景观的完整性和质感，避免简单拼凑或明显降档。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a6b06f3bc54d1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ba151139aa4d7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d4762f973ff478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ae65d7843a8405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3d5d99b62a45c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ae6f781794a41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4768ff8d914953" /><Relationship Type="http://schemas.openxmlformats.org/officeDocument/2006/relationships/slideLayout" Target="/ppt/slideLayouts/slideLayout1.xml" Id="R0cccd83483014781" /><Relationship Type="http://schemas.openxmlformats.org/officeDocument/2006/relationships/slideLayout" Target="/ppt/slideLayouts/slideLayout2.xml" Id="Rd4da4ae0e54a4ed0" /><Relationship Type="http://schemas.openxmlformats.org/officeDocument/2006/relationships/slideLayout" Target="/ppt/slideLayouts/slideLayout3.xml" Id="R21032764e6eb4774" /><Relationship Type="http://schemas.openxmlformats.org/officeDocument/2006/relationships/slideLayout" Target="/ppt/slideLayouts/slideLayout4.xml" Id="Rc8e379a48c7043be" /><Relationship Type="http://schemas.openxmlformats.org/officeDocument/2006/relationships/slideLayout" Target="/ppt/slideLayouts/slideLayout5.xml" Id="R0095bad50514420b" /><Relationship Type="http://schemas.openxmlformats.org/officeDocument/2006/relationships/slideLayout" Target="/ppt/slideLayouts/slideLayout6.xml" Id="R09e448b4bb4d44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ccd83483014781"/>
    <p:sldLayoutId xmlns:r="http://schemas.openxmlformats.org/officeDocument/2006/relationships" id="2147483650" r:id="Rd4da4ae0e54a4ed0"/>
    <p:sldLayoutId xmlns:r="http://schemas.openxmlformats.org/officeDocument/2006/relationships" id="2147483651" r:id="R21032764e6eb4774"/>
    <p:sldLayoutId xmlns:r="http://schemas.openxmlformats.org/officeDocument/2006/relationships" id="2147483652" r:id="Rc8e379a48c7043be"/>
    <p:sldLayoutId xmlns:r="http://schemas.openxmlformats.org/officeDocument/2006/relationships" id="2147483653" r:id="R0095bad50514420b"/>
    <p:sldLayoutId xmlns:r="http://schemas.openxmlformats.org/officeDocument/2006/relationships" id="2147483654" r:id="R09e448b4bb4d44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2b64265d5b420b" /><Relationship Type="http://schemas.openxmlformats.org/officeDocument/2006/relationships/image" Target="/ppt/media/image.jpeg" Id="Rb7fc027b72b34801" /><Relationship Type="http://schemas.openxmlformats.org/officeDocument/2006/relationships/notesSlide" Target="/ppt/notesSlides/notesSlide1.xml" Id="Re3c7c322481148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cf56522d89848b8" /><Relationship Type="http://schemas.openxmlformats.org/officeDocument/2006/relationships/notesSlide" Target="/ppt/notesSlides/notesSlide2.xml" Id="Re2968dfb13c04e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233be2ae6f847d8" /><Relationship Type="http://schemas.openxmlformats.org/officeDocument/2006/relationships/image" Target="/ppt/media/image2.jpeg" Id="Rbf7d2e7a0ae7487f" /><Relationship Type="http://schemas.openxmlformats.org/officeDocument/2006/relationships/notesSlide" Target="/ppt/notesSlides/notesSlide3.xml" Id="R11c22404526149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2e567f9bfbd44e6" /><Relationship Type="http://schemas.openxmlformats.org/officeDocument/2006/relationships/image" Target="/ppt/media/image3.jpeg" Id="R7c2c809a46e44d81" /><Relationship Type="http://schemas.openxmlformats.org/officeDocument/2006/relationships/image" Target="/ppt/media/image4.jpeg" Id="R9b9ce5a5c692472b" /><Relationship Type="http://schemas.openxmlformats.org/officeDocument/2006/relationships/notesSlide" Target="/ppt/notesSlides/notesSlide4.xml" Id="Rdf76153dee5c4a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963d3d66a644ef4" /><Relationship Type="http://schemas.openxmlformats.org/officeDocument/2006/relationships/notesSlide" Target="/ppt/notesSlides/notesSlide5.xml" Id="R58d8420353514a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e1a346f795c46c1" /><Relationship Type="http://schemas.openxmlformats.org/officeDocument/2006/relationships/image" Target="/ppt/media/image.png" Id="Rbf5c703d8aa24bb5" /><Relationship Type="http://schemas.openxmlformats.org/officeDocument/2006/relationships/notesSlide" Target="/ppt/notesSlides/notesSlide6.xml" Id="Rc167f41993704e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f7a6bab23da4b2b" /><Relationship Type="http://schemas.openxmlformats.org/officeDocument/2006/relationships/image" Target="/ppt/media/image2.png" Id="Rc29701ec5e044962" /><Relationship Type="http://schemas.openxmlformats.org/officeDocument/2006/relationships/notesSlide" Target="/ppt/notesSlides/notesSlide7.xml" Id="Rb502cfb3bf6541f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528c940ff164faf" /><Relationship Type="http://schemas.openxmlformats.org/officeDocument/2006/relationships/image" Target="/ppt/media/image3.png" Id="R22159b1028fd44b9" /><Relationship Type="http://schemas.openxmlformats.org/officeDocument/2006/relationships/notesSlide" Target="/ppt/notesSlides/notesSlide8.xml" Id="Ra02c6815b99041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643e76f46a4840" /><Relationship Type="http://schemas.openxmlformats.org/officeDocument/2006/relationships/notesSlide" Target="/ppt/notesSlides/notesSlide9.xml" Id="Ree2aa1d36cc54aba"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7fc027b72b34801"/>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整改事项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销售展示与后续整改的矛盾，有明确法律规则可循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后续整改方式和最终效果尚未明确，入口空间层次与整体质感可能受到影响。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开发商应说明整改范围、方式和最终效果，并提出明确的入口品质补救方案。</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后续整改可能涉及的入口位置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f7d2e7a0ae7487f"/>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据目前告知，后续整改可能涉及规划道路一侧的入口。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整改范围、边界及实施方式，以开发商书面方案及相关审批为准。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FCC7798-CB13-416D-92FF-1DB5BD494134}"/>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2AB2F6C7-CED8-47C3-964F-5C0027780CD8}"/>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销售沙盘展示与目前大门方案明显不一致</a:t>
            </a:r>
          </a:p>
        </p:txBody>
      </p:sp>
      <p:sp>
        <p:nvSpPr>
          <p:cNvPr id="3" name="">
            <a:extLst xmlns:a="http://schemas.openxmlformats.org/drawingml/2006/main">
              <a:ext uri="{FF2B5EF4-FFF2-40B4-BE49-F238E27FC236}">
                <a16:creationId xmlns:a16="http://schemas.microsoft.com/office/drawing/2014/main" id="{41319FF9-97DF-44B0-9BEB-859943A1CDA4}"/>
              </a:ext>
            </a:extLst>
          </p:cNvPr>
          <p:cNvSpPr>
            <a:spLocks xmlns:a="http://schemas.openxmlformats.org/drawingml/2006/main" noGrp="1"/>
          </p:cNvSpPr>
          <p:nvPr/>
        </p:nvSpPr>
        <p:spPr>
          <a:xfrm xmlns:a="http://schemas.openxmlformats.org/drawingml/2006/main">
            <a:off x="781050" y="1504950"/>
            <a:ext cx="647700" cy="38100"/>
          </a:xfrm>
          <a:prstGeom xmlns:a="http://schemas.openxmlformats.org/drawingml/2006/main" prst="rect">
            <a:avLst/>
          </a:prstGeom>
          <a:solidFill xmlns:a="http://schemas.openxmlformats.org/drawingml/2006/main">
            <a:srgbClr val="9D4B4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F038F9-24BC-4F5A-8A31-A2BC76EE2A54}"/>
              </a:ext>
            </a:extLst>
          </p:cNvPr>
          <p:cNvSpPr>
            <a:spLocks xmlns:a="http://schemas.openxmlformats.org/drawingml/2006/main" noGrp="1"/>
          </p:cNvSpPr>
          <p:nvPr/>
        </p:nvSpPr>
        <p:spPr>
          <a:xfrm xmlns:a="http://schemas.openxmlformats.org/drawingml/2006/main">
            <a:off x="781050" y="1685925"/>
            <a:ext cx="5143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销售沙盘（业主拍摄）</a:t>
            </a:r>
          </a:p>
        </p:txBody>
      </p:sp>
      <p:sp>
        <p:nvSpPr>
          <p:cNvPr id="5" name="">
            <a:extLst xmlns:a="http://schemas.openxmlformats.org/drawingml/2006/main">
              <a:ext uri="{FF2B5EF4-FFF2-40B4-BE49-F238E27FC236}">
                <a16:creationId xmlns:a16="http://schemas.microsoft.com/office/drawing/2014/main" id="{961901D6-673C-421F-A169-A6DC4A2FFD0F}"/>
              </a:ext>
            </a:extLst>
          </p:cNvPr>
          <p:cNvSpPr>
            <a:spLocks xmlns:a="http://schemas.openxmlformats.org/drawingml/2006/main" noGrp="1"/>
          </p:cNvSpPr>
          <p:nvPr/>
        </p:nvSpPr>
        <p:spPr>
          <a:xfrm xmlns:a="http://schemas.openxmlformats.org/drawingml/2006/main">
            <a:off x="6257925" y="1685925"/>
            <a:ext cx="5143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目前大门方案（业主提供）</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7c2c809a46e44d81"/>
          <a:srcRect xmlns:a="http://schemas.openxmlformats.org/drawingml/2006/main" l="2000" t="34000" r="43000" b="5000"/>
          <a:stretch xmlns:a="http://schemas.openxmlformats.org/drawingml/2006/main"/>
        </p:blipFill>
        <p:spPr>
          <a:xfrm xmlns:a="http://schemas.openxmlformats.org/drawingml/2006/main">
            <a:off x="781050" y="2000250"/>
            <a:ext cx="5143500" cy="2857500"/>
          </a:xfrm>
          <a:prstGeom xmlns:a="http://schemas.openxmlformats.org/drawingml/2006/main" prst="rect">
            <a:avLst/>
          </a:prstGeom>
        </p:spPr>
      </p:pic>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b9ce5a5c692472b"/>
          <a:srcRect xmlns:a="http://schemas.openxmlformats.org/drawingml/2006/main" l="14125" t="0" r="14125" b="0"/>
          <a:stretch xmlns:a="http://schemas.openxmlformats.org/drawingml/2006/main">
            <a:fillRect l="0" t="0" r="0" b="0"/>
          </a:stretch>
        </p:blipFill>
        <p:spPr>
          <a:xfrm xmlns:a="http://schemas.openxmlformats.org/drawingml/2006/main">
            <a:off x="6257925" y="2000250"/>
            <a:ext cx="5143500" cy="2857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74A99C8-A287-4840-ABC9-8FDDCE9E2931}"/>
              </a:ext>
            </a:extLst>
          </p:cNvPr>
          <p:cNvSpPr>
            <a:spLocks xmlns:a="http://schemas.openxmlformats.org/drawingml/2006/main" noGrp="1"/>
          </p:cNvSpPr>
          <p:nvPr/>
        </p:nvSpPr>
        <p:spPr>
          <a:xfrm xmlns:a="http://schemas.openxmlformats.org/drawingml/2006/main">
            <a:off x="781050" y="2000250"/>
            <a:ext cx="5143500" cy="28575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9" name="">
            <a:extLst xmlns:a="http://schemas.openxmlformats.org/drawingml/2006/main">
              <a:ext uri="{FF2B5EF4-FFF2-40B4-BE49-F238E27FC236}">
                <a16:creationId xmlns:a16="http://schemas.microsoft.com/office/drawing/2014/main" id="{733E04F2-13B3-4717-B48D-F329902B9430}"/>
              </a:ext>
            </a:extLst>
          </p:cNvPr>
          <p:cNvSpPr>
            <a:spLocks xmlns:a="http://schemas.openxmlformats.org/drawingml/2006/main" noGrp="1"/>
          </p:cNvSpPr>
          <p:nvPr/>
        </p:nvSpPr>
        <p:spPr>
          <a:xfrm xmlns:a="http://schemas.openxmlformats.org/drawingml/2006/main">
            <a:off x="6257925" y="2000250"/>
            <a:ext cx="5143500" cy="28575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10" name="">
            <a:extLst xmlns:a="http://schemas.openxmlformats.org/drawingml/2006/main">
              <a:ext uri="{FF2B5EF4-FFF2-40B4-BE49-F238E27FC236}">
                <a16:creationId xmlns:a16="http://schemas.microsoft.com/office/drawing/2014/main" id="{D173CEB0-5D81-4187-B288-929CFDBD1768}"/>
              </a:ext>
            </a:extLst>
          </p:cNvPr>
          <p:cNvSpPr>
            <a:spLocks xmlns:a="http://schemas.openxmlformats.org/drawingml/2006/main" noGrp="1"/>
          </p:cNvSpPr>
          <p:nvPr/>
        </p:nvSpPr>
        <p:spPr>
          <a:xfrm xmlns:a="http://schemas.openxmlformats.org/drawingml/2006/main">
            <a:off x="781050" y="49720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02824"/>
                </a:solidFill>
                <a:latin typeface="Alibaba PuHuiTi 3.0"/>
                <a:ea typeface="Alibaba PuHuiTi 3.0"/>
                <a:cs typeface="Alibaba PuHuiTi 3.0"/>
              </a:defRPr>
            </a:pPr>
            <a:r>
              <a:rPr sz="1500" b="1">
                <a:solidFill>
                  <a:srgbClr val="202824"/>
                </a:solidFill>
                <a:latin typeface="Alibaba PuHuiTi 3.0"/>
                <a:ea typeface="Alibaba PuHuiTi 3.0"/>
                <a:cs typeface="Alibaba PuHuiTi 3.0"/>
              </a:rPr>
              <a:t>沙盘：临街入口以突出门廊组织空间</a:t>
            </a:r>
          </a:p>
        </p:txBody>
      </p:sp>
      <p:sp>
        <p:nvSpPr>
          <p:cNvPr id="11" name="">
            <a:extLst xmlns:a="http://schemas.openxmlformats.org/drawingml/2006/main">
              <a:ext uri="{FF2B5EF4-FFF2-40B4-BE49-F238E27FC236}">
                <a16:creationId xmlns:a16="http://schemas.microsoft.com/office/drawing/2014/main" id="{D0482B7A-5133-461A-B242-37402AECE31E}"/>
              </a:ext>
            </a:extLst>
          </p:cNvPr>
          <p:cNvSpPr>
            <a:spLocks xmlns:a="http://schemas.openxmlformats.org/drawingml/2006/main" noGrp="1"/>
          </p:cNvSpPr>
          <p:nvPr/>
        </p:nvSpPr>
        <p:spPr>
          <a:xfrm xmlns:a="http://schemas.openxmlformats.org/drawingml/2006/main">
            <a:off x="6257925" y="49720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02824"/>
                </a:solidFill>
                <a:latin typeface="Alibaba PuHuiTi 3.0"/>
                <a:ea typeface="Alibaba PuHuiTi 3.0"/>
                <a:cs typeface="Alibaba PuHuiTi 3.0"/>
              </a:defRPr>
            </a:pPr>
            <a:r>
              <a:rPr sz="1500" b="1">
                <a:solidFill>
                  <a:srgbClr val="202824"/>
                </a:solidFill>
                <a:latin typeface="Alibaba PuHuiTi 3.0"/>
                <a:ea typeface="Alibaba PuHuiTi 3.0"/>
                <a:cs typeface="Alibaba PuHuiTi 3.0"/>
              </a:rPr>
              <a:t>目前方案：入口体量、台阶与绿化重新组织</a:t>
            </a:r>
          </a:p>
        </p:txBody>
      </p:sp>
      <p:sp>
        <p:nvSpPr>
          <p:cNvPr id="12" name="">
            <a:extLst xmlns:a="http://schemas.openxmlformats.org/drawingml/2006/main">
              <a:ext uri="{FF2B5EF4-FFF2-40B4-BE49-F238E27FC236}">
                <a16:creationId xmlns:a16="http://schemas.microsoft.com/office/drawing/2014/main" id="{E9A6B3EF-3276-4C47-B426-DB8BB3C8C297}"/>
              </a:ext>
            </a:extLst>
          </p:cNvPr>
          <p:cNvSpPr>
            <a:spLocks xmlns:a="http://schemas.openxmlformats.org/drawingml/2006/main" noGrp="1"/>
          </p:cNvSpPr>
          <p:nvPr/>
        </p:nvSpPr>
        <p:spPr>
          <a:xfrm xmlns:a="http://schemas.openxmlformats.org/drawingml/2006/main">
            <a:off x="781050" y="5457825"/>
            <a:ext cx="76200" cy="733425"/>
          </a:xfrm>
          <a:prstGeom xmlns:a="http://schemas.openxmlformats.org/drawingml/2006/main" prst="rect">
            <a:avLst/>
          </a:prstGeom>
          <a:solidFill xmlns:a="http://schemas.openxmlformats.org/drawingml/2006/main">
            <a:srgbClr val="9D4B4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33AD1AC-6B8A-45E0-8BA5-6E46A382252E}"/>
              </a:ext>
            </a:extLst>
          </p:cNvPr>
          <p:cNvSpPr>
            <a:spLocks xmlns:a="http://schemas.openxmlformats.org/drawingml/2006/main" noGrp="1"/>
          </p:cNvSpPr>
          <p:nvPr/>
        </p:nvSpPr>
        <p:spPr>
          <a:xfrm xmlns:a="http://schemas.openxmlformats.org/drawingml/2006/main">
            <a:off x="1028700" y="542925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9D4B40"/>
                </a:solidFill>
                <a:latin typeface="Alibaba PuHuiTi 3.0"/>
                <a:ea typeface="Alibaba PuHuiTi 3.0"/>
                <a:cs typeface="Alibaba PuHuiTi 3.0"/>
              </a:defRPr>
            </a:pPr>
            <a:r>
              <a:rPr sz="1275" b="1">
                <a:solidFill>
                  <a:srgbClr val="9D4B40"/>
                </a:solidFill>
                <a:latin typeface="Alibaba PuHuiTi 3.0"/>
                <a:ea typeface="Alibaba PuHuiTi 3.0"/>
                <a:cs typeface="Alibaba PuHuiTi 3.0"/>
              </a:rPr>
              <a:t>对比结论</a:t>
            </a:r>
          </a:p>
        </p:txBody>
      </p:sp>
      <p:sp>
        <p:nvSpPr>
          <p:cNvPr id="14" name="">
            <a:extLst xmlns:a="http://schemas.openxmlformats.org/drawingml/2006/main">
              <a:ext uri="{FF2B5EF4-FFF2-40B4-BE49-F238E27FC236}">
                <a16:creationId xmlns:a16="http://schemas.microsoft.com/office/drawing/2014/main" id="{9920A8A0-945A-4A20-9A7C-2A6E8BF8003A}"/>
              </a:ext>
            </a:extLst>
          </p:cNvPr>
          <p:cNvSpPr>
            <a:spLocks xmlns:a="http://schemas.openxmlformats.org/drawingml/2006/main" noGrp="1"/>
          </p:cNvSpPr>
          <p:nvPr/>
        </p:nvSpPr>
        <p:spPr>
          <a:xfrm xmlns:a="http://schemas.openxmlformats.org/drawingml/2006/main">
            <a:off x="1028700" y="5695950"/>
            <a:ext cx="10372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202824"/>
                </a:solidFill>
                <a:latin typeface="Alibaba PuHuiTi 3.0"/>
                <a:ea typeface="Alibaba PuHuiTi 3.0"/>
                <a:cs typeface="Alibaba PuHuiTi 3.0"/>
              </a:defRPr>
            </a:pPr>
            <a:r>
              <a:rPr sz="1650" b="1">
                <a:solidFill>
                  <a:srgbClr val="202824"/>
                </a:solidFill>
                <a:latin typeface="Alibaba PuHuiTi 3.0"/>
                <a:ea typeface="Alibaba PuHuiTi 3.0"/>
                <a:cs typeface="Alibaba PuHuiTi 3.0"/>
              </a:rPr>
              <a:t>两图视角不同，但入口形态、雨棚与台阶尺度、景观组织已呈现明显差异。</a:t>
            </a:r>
          </a:p>
        </p:txBody>
      </p:sp>
      <p:sp>
        <p:nvSpPr>
          <p:cNvPr id="15" name="">
            <a:extLst xmlns:a="http://schemas.openxmlformats.org/drawingml/2006/main">
              <a:ext uri="{FF2B5EF4-FFF2-40B4-BE49-F238E27FC236}">
                <a16:creationId xmlns:a16="http://schemas.microsoft.com/office/drawing/2014/main" id="{5B8D5B10-F354-453C-A9D8-13D63E1433AA}"/>
              </a:ext>
            </a:extLst>
          </p:cNvPr>
          <p:cNvSpPr>
            <a:spLocks xmlns:a="http://schemas.openxmlformats.org/drawingml/2006/main" noGrp="1"/>
          </p:cNvSpPr>
          <p:nvPr/>
        </p:nvSpPr>
        <p:spPr>
          <a:xfrm xmlns:a="http://schemas.openxmlformats.org/drawingml/2006/main">
            <a:off x="1028700" y="6010275"/>
            <a:ext cx="1037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请开发商提供方案版本、变更时间和审批依据，并说明销售阶段是否已明确告知。</a:t>
            </a:r>
          </a:p>
        </p:txBody>
      </p:sp>
      <p:sp>
        <p:nvSpPr>
          <p:cNvPr id="16" name="">
            <a:extLst xmlns:a="http://schemas.openxmlformats.org/drawingml/2006/main">
              <a:ext uri="{FF2B5EF4-FFF2-40B4-BE49-F238E27FC236}">
                <a16:creationId xmlns:a16="http://schemas.microsoft.com/office/drawing/2014/main" id="{352CA31E-30D6-4449-B11F-C75E3AFD661C}"/>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04</a:t>
            </a:r>
          </a:p>
        </p:txBody>
      </p:sp>
    </p:spTree>
    <p:extLst>
      <p:ext uri="{BB962C8B-B14F-4D97-AF65-F5344CB8AC3E}">
        <p14:creationId xmlns:p14="http://schemas.microsoft.com/office/powerpoint/2010/main" val="1051361721"/>
      </p:ext>
    </p:extLst>
  </p:cSld>
</p:sld>
</file>

<file path=ppt/slides/slide5.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销售展示与后续整改的矛盾，有法可依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销售展示与后续整改出现矛盾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购房时展示方案包含外延台阶。开发商后续称该区域涉及市政道路红线并需整改，但具体方案和最终效果尚未明确。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《民法典》第500条要求订约阶段遵守诚信原则，不得故意隐瞒与订立合同有关的重要事实或提供虚假情况。</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05</a:t>
            </a:r>
          </a:p>
        </p:txBody>
      </p:sp>
    </p:spTree>
    <p:extLst>
      <p:ext uri="{BB962C8B-B14F-4D97-AF65-F5344CB8AC3E}">
        <p14:creationId xmlns:p14="http://schemas.microsoft.com/office/powerpoint/2010/main" val="1853797301"/>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6763E59-9E77-4ACE-906A-26096F3771CF}"/>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8B115EE2-3260-40AF-9AB7-5C413E35F1F4}"/>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202824"/>
                </a:solidFill>
                <a:latin typeface="Alibaba PuHuiTi 3.0"/>
                <a:ea typeface="Alibaba PuHuiTi 3.0"/>
                <a:cs typeface="Alibaba PuHuiTi 3.0"/>
              </a:defRPr>
            </a:pPr>
            <a:r>
              <a:rPr sz="2850" b="1">
                <a:solidFill>
                  <a:srgbClr val="202824"/>
                </a:solidFill>
                <a:latin typeface="Alibaba PuHuiTi 3.0"/>
                <a:ea typeface="Alibaba PuHuiTi 3.0"/>
                <a:cs typeface="Alibaba PuHuiTi 3.0"/>
              </a:rPr>
              <a:t>小区车道紧邻大门出口，车辆与行人存在交叉风险</a:t>
            </a:r>
          </a:p>
        </p:txBody>
      </p:sp>
      <p:sp>
        <p:nvSpPr>
          <p:cNvPr id="3" name="">
            <a:extLst xmlns:a="http://schemas.openxmlformats.org/drawingml/2006/main">
              <a:ext uri="{FF2B5EF4-FFF2-40B4-BE49-F238E27FC236}">
                <a16:creationId xmlns:a16="http://schemas.microsoft.com/office/drawing/2014/main" id="{9B8A6B7F-3A27-4DE8-8CD4-945204FDF78D}"/>
              </a:ext>
            </a:extLst>
          </p:cNvPr>
          <p:cNvSpPr>
            <a:spLocks xmlns:a="http://schemas.openxmlformats.org/drawingml/2006/main" noGrp="1"/>
          </p:cNvSpPr>
          <p:nvPr/>
        </p:nvSpPr>
        <p:spPr>
          <a:xfrm xmlns:a="http://schemas.openxmlformats.org/drawingml/2006/main">
            <a:off x="781050" y="1504950"/>
            <a:ext cx="647700" cy="38100"/>
          </a:xfrm>
          <a:prstGeom xmlns:a="http://schemas.openxmlformats.org/drawingml/2006/main" prst="rect">
            <a:avLst/>
          </a:prstGeom>
          <a:solidFill xmlns:a="http://schemas.openxmlformats.org/drawingml/2006/main">
            <a:srgbClr val="9D4B40"/>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f5c703d8aa24bb5"/>
          <a:stretch xmlns:a="http://schemas.openxmlformats.org/drawingml/2006/main"/>
        </p:blipFill>
        <p:spPr>
          <a:xfrm xmlns:a="http://schemas.openxmlformats.org/drawingml/2006/main">
            <a:off x="1171431" y="1714500"/>
            <a:ext cx="4172239" cy="4495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47105DD-BD98-4FDB-B651-34417F3B35B2}"/>
              </a:ext>
            </a:extLst>
          </p:cNvPr>
          <p:cNvSpPr>
            <a:spLocks xmlns:a="http://schemas.openxmlformats.org/drawingml/2006/main" noGrp="1"/>
          </p:cNvSpPr>
          <p:nvPr/>
        </p:nvSpPr>
        <p:spPr>
          <a:xfrm xmlns:a="http://schemas.openxmlformats.org/drawingml/2006/main">
            <a:off x="781050" y="1714500"/>
            <a:ext cx="4953000" cy="44958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6" name="">
            <a:extLst xmlns:a="http://schemas.openxmlformats.org/drawingml/2006/main">
              <a:ext uri="{FF2B5EF4-FFF2-40B4-BE49-F238E27FC236}">
                <a16:creationId xmlns:a16="http://schemas.microsoft.com/office/drawing/2014/main" id="{F9307435-8BF7-44DE-8A43-82FC46424329}"/>
              </a:ext>
            </a:extLst>
          </p:cNvPr>
          <p:cNvSpPr>
            <a:spLocks xmlns:a="http://schemas.openxmlformats.org/drawingml/2006/main" noGrp="1"/>
          </p:cNvSpPr>
          <p:nvPr/>
        </p:nvSpPr>
        <p:spPr>
          <a:xfrm xmlns:a="http://schemas.openxmlformats.org/drawingml/2006/main">
            <a:off x="6191250" y="1819275"/>
            <a:ext cx="5162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现状关系</a:t>
            </a:r>
          </a:p>
        </p:txBody>
      </p:sp>
      <p:sp>
        <p:nvSpPr>
          <p:cNvPr id="7" name="">
            <a:extLst xmlns:a="http://schemas.openxmlformats.org/drawingml/2006/main">
              <a:ext uri="{FF2B5EF4-FFF2-40B4-BE49-F238E27FC236}">
                <a16:creationId xmlns:a16="http://schemas.microsoft.com/office/drawing/2014/main" id="{65AFF1D2-4B87-4E74-8C74-5BBF86399915}"/>
              </a:ext>
            </a:extLst>
          </p:cNvPr>
          <p:cNvSpPr>
            <a:spLocks xmlns:a="http://schemas.openxmlformats.org/drawingml/2006/main" noGrp="1"/>
          </p:cNvSpPr>
          <p:nvPr/>
        </p:nvSpPr>
        <p:spPr>
          <a:xfrm xmlns:a="http://schemas.openxmlformats.org/drawingml/2006/main">
            <a:off x="6191250" y="2190750"/>
            <a:ext cx="51625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大门出口紧邻</a:t>
            </a:r>
          </a:p>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小区内部车道</a:t>
            </a:r>
          </a:p>
        </p:txBody>
      </p:sp>
      <p:sp>
        <p:nvSpPr>
          <p:cNvPr id="8" name="">
            <a:extLst xmlns:a="http://schemas.openxmlformats.org/drawingml/2006/main">
              <a:ext uri="{FF2B5EF4-FFF2-40B4-BE49-F238E27FC236}">
                <a16:creationId xmlns:a16="http://schemas.microsoft.com/office/drawing/2014/main" id="{385736CB-F3E8-4898-989A-11157FC9625B}"/>
              </a:ext>
            </a:extLst>
          </p:cNvPr>
          <p:cNvSpPr>
            <a:spLocks xmlns:a="http://schemas.openxmlformats.org/drawingml/2006/main" noGrp="1"/>
          </p:cNvSpPr>
          <p:nvPr/>
        </p:nvSpPr>
        <p:spPr>
          <a:xfrm xmlns:a="http://schemas.openxmlformats.org/drawingml/2006/main">
            <a:off x="6191250" y="3095625"/>
            <a:ext cx="5162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26159"/>
                </a:solidFill>
                <a:latin typeface="Alibaba PuHuiTi 3.0"/>
                <a:ea typeface="Alibaba PuHuiTi 3.0"/>
                <a:cs typeface="Alibaba PuHuiTi 3.0"/>
              </a:defRPr>
            </a:pPr>
            <a:r>
              <a:rPr sz="1425" b="0">
                <a:solidFill>
                  <a:srgbClr val="526159"/>
                </a:solidFill>
                <a:latin typeface="Alibaba PuHuiTi 3.0"/>
                <a:ea typeface="Alibaba PuHuiTi 3.0"/>
                <a:cs typeface="Alibaba PuHuiTi 3.0"/>
              </a:rPr>
              <a:t>小区内部车道紧邻大门出口，车辆动线与出口行人动线可能直接交叉，存在交通安全风险。</a:t>
            </a:r>
          </a:p>
        </p:txBody>
      </p:sp>
      <p:sp>
        <p:nvSpPr>
          <p:cNvPr id="9" name="">
            <a:extLst xmlns:a="http://schemas.openxmlformats.org/drawingml/2006/main">
              <a:ext uri="{FF2B5EF4-FFF2-40B4-BE49-F238E27FC236}">
                <a16:creationId xmlns:a16="http://schemas.microsoft.com/office/drawing/2014/main" id="{E65324B2-5E72-427E-8CA7-FECE89DAFEFD}"/>
              </a:ext>
            </a:extLst>
          </p:cNvPr>
          <p:cNvSpPr>
            <a:spLocks xmlns:a="http://schemas.openxmlformats.org/drawingml/2006/main" noGrp="1"/>
          </p:cNvSpPr>
          <p:nvPr/>
        </p:nvSpPr>
        <p:spPr>
          <a:xfrm xmlns:a="http://schemas.openxmlformats.org/drawingml/2006/main">
            <a:off x="6191250" y="4010025"/>
            <a:ext cx="5162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9D4B40"/>
                </a:solidFill>
                <a:latin typeface="Alibaba PuHuiTi 3.0"/>
                <a:ea typeface="Alibaba PuHuiTi 3.0"/>
                <a:cs typeface="Alibaba PuHuiTi 3.0"/>
              </a:defRPr>
            </a:pPr>
            <a:r>
              <a:rPr sz="1425" b="1">
                <a:solidFill>
                  <a:srgbClr val="9D4B40"/>
                </a:solidFill>
                <a:latin typeface="Alibaba PuHuiTi 3.0"/>
                <a:ea typeface="Alibaba PuHuiTi 3.0"/>
                <a:cs typeface="Alibaba PuHuiTi 3.0"/>
              </a:rPr>
              <a:t>安全风险</a:t>
            </a:r>
          </a:p>
        </p:txBody>
      </p:sp>
      <p:sp>
        <p:nvSpPr>
          <p:cNvPr id="10" name="">
            <a:extLst xmlns:a="http://schemas.openxmlformats.org/drawingml/2006/main">
              <a:ext uri="{FF2B5EF4-FFF2-40B4-BE49-F238E27FC236}">
                <a16:creationId xmlns:a16="http://schemas.microsoft.com/office/drawing/2014/main" id="{04642000-6275-498F-A47D-7513D30E7777}"/>
              </a:ext>
            </a:extLst>
          </p:cNvPr>
          <p:cNvSpPr>
            <a:spLocks xmlns:a="http://schemas.openxmlformats.org/drawingml/2006/main" noGrp="1"/>
          </p:cNvSpPr>
          <p:nvPr/>
        </p:nvSpPr>
        <p:spPr>
          <a:xfrm xmlns:a="http://schemas.openxmlformats.org/drawingml/2006/main">
            <a:off x="6191250" y="4362450"/>
            <a:ext cx="5162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小区车道车辆与</a:t>
            </a:r>
          </a:p>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大门出口行人存在交叉风险</a:t>
            </a:r>
          </a:p>
        </p:txBody>
      </p:sp>
      <p:sp>
        <p:nvSpPr>
          <p:cNvPr id="11" name="">
            <a:extLst xmlns:a="http://schemas.openxmlformats.org/drawingml/2006/main">
              <a:ext uri="{FF2B5EF4-FFF2-40B4-BE49-F238E27FC236}">
                <a16:creationId xmlns:a16="http://schemas.microsoft.com/office/drawing/2014/main" id="{853263EA-F777-4F15-8ACC-DB10C1516A2B}"/>
              </a:ext>
            </a:extLst>
          </p:cNvPr>
          <p:cNvSpPr>
            <a:spLocks xmlns:a="http://schemas.openxmlformats.org/drawingml/2006/main" noGrp="1"/>
          </p:cNvSpPr>
          <p:nvPr/>
        </p:nvSpPr>
        <p:spPr>
          <a:xfrm xmlns:a="http://schemas.openxmlformats.org/drawingml/2006/main">
            <a:off x="6191250" y="5267325"/>
            <a:ext cx="51625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26159"/>
                </a:solidFill>
                <a:latin typeface="Alibaba PuHuiTi 3.0"/>
                <a:ea typeface="Alibaba PuHuiTi 3.0"/>
                <a:cs typeface="Alibaba PuHuiTi 3.0"/>
              </a:defRPr>
            </a:pPr>
            <a:r>
              <a:rPr sz="1425" b="0">
                <a:solidFill>
                  <a:srgbClr val="526159"/>
                </a:solidFill>
                <a:latin typeface="Alibaba PuHuiTi 3.0"/>
                <a:ea typeface="Alibaba PuHuiTi 3.0"/>
                <a:cs typeface="Alibaba PuHuiTi 3.0"/>
              </a:rPr>
              <a:t>请开发商提交交通组织优化方案，说明人车分流、减速、视距和步行缓冲措施。</a:t>
            </a:r>
          </a:p>
        </p:txBody>
      </p:sp>
      <p:sp>
        <p:nvSpPr>
          <p:cNvPr id="12" name="">
            <a:extLst xmlns:a="http://schemas.openxmlformats.org/drawingml/2006/main">
              <a:ext uri="{FF2B5EF4-FFF2-40B4-BE49-F238E27FC236}">
                <a16:creationId xmlns:a16="http://schemas.microsoft.com/office/drawing/2014/main" id="{3569416A-4CA3-4E36-952F-3C4A5A5C0F4B}"/>
              </a:ext>
            </a:extLst>
          </p:cNvPr>
          <p:cNvSpPr>
            <a:spLocks xmlns:a="http://schemas.openxmlformats.org/drawingml/2006/main" noGrp="1"/>
          </p:cNvSpPr>
          <p:nvPr/>
        </p:nvSpPr>
        <p:spPr>
          <a:xfrm xmlns:a="http://schemas.openxmlformats.org/drawingml/2006/main">
            <a:off x="6191250" y="5991225"/>
            <a:ext cx="5162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图中红字为业主标注，具体交通关系以开发商图纸和现场复核为准。</a:t>
            </a:r>
          </a:p>
        </p:txBody>
      </p:sp>
      <p:sp>
        <p:nvSpPr>
          <p:cNvPr id="13" name="">
            <a:extLst xmlns:a="http://schemas.openxmlformats.org/drawingml/2006/main">
              <a:ext uri="{FF2B5EF4-FFF2-40B4-BE49-F238E27FC236}">
                <a16:creationId xmlns:a16="http://schemas.microsoft.com/office/drawing/2014/main" id="{C862DD15-A263-4BE7-B3F9-AC8A257B0DD2}"/>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06</a:t>
            </a:r>
          </a:p>
        </p:txBody>
      </p:sp>
    </p:spTree>
    <p:extLst>
      <p:ext uri="{BB962C8B-B14F-4D97-AF65-F5344CB8AC3E}">
        <p14:creationId xmlns:p14="http://schemas.microsoft.com/office/powerpoint/2010/main" val="45663603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4544418-DB37-43BA-8CB5-0966D4F2C87B}"/>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06</a:t>
            </a:r>
          </a:p>
        </p:txBody>
      </p:sp>
      <p:sp>
        <p:nvSpPr>
          <p:cNvPr id="2" name="">
            <a:extLst xmlns:a="http://schemas.openxmlformats.org/drawingml/2006/main">
              <a:ext uri="{FF2B5EF4-FFF2-40B4-BE49-F238E27FC236}">
                <a16:creationId xmlns:a16="http://schemas.microsoft.com/office/drawing/2014/main" id="{AD325B10-30AC-498E-B8ED-41BAAF0CB1DA}"/>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落地方案：优先论证小区内部车行路线优化</a:t>
            </a:r>
          </a:p>
        </p:txBody>
      </p:sp>
      <p:sp>
        <p:nvSpPr>
          <p:cNvPr id="3" name="">
            <a:extLst xmlns:a="http://schemas.openxmlformats.org/drawingml/2006/main">
              <a:ext uri="{FF2B5EF4-FFF2-40B4-BE49-F238E27FC236}">
                <a16:creationId xmlns:a16="http://schemas.microsoft.com/office/drawing/2014/main" id="{D030CE92-EED8-427A-BA72-6E13A947E1B6}"/>
              </a:ext>
            </a:extLst>
          </p:cNvPr>
          <p:cNvSpPr>
            <a:spLocks xmlns:a="http://schemas.openxmlformats.org/drawingml/2006/main" noGrp="1"/>
          </p:cNvSpPr>
          <p:nvPr/>
        </p:nvSpPr>
        <p:spPr>
          <a:xfrm xmlns:a="http://schemas.openxmlformats.org/drawingml/2006/main">
            <a:off x="781050" y="14573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车行路线可优化时采用纵向花坛，为入口释放更完整的造景空间</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29701ec5e044962"/>
          <a:srcRect xmlns:a="http://schemas.openxmlformats.org/drawingml/2006/main" l="13" t="0" r="13" b="0"/>
          <a:stretch xmlns:a="http://schemas.openxmlformats.org/drawingml/2006/main">
            <a:fillRect l="0" t="0" r="0" b="0"/>
          </a:stretch>
        </p:blipFill>
        <p:spPr>
          <a:xfrm xmlns:a="http://schemas.openxmlformats.org/drawingml/2006/main">
            <a:off x="781050" y="1981200"/>
            <a:ext cx="6953250" cy="2781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55BC189-3B0A-478E-A197-01328E77A5D9}"/>
              </a:ext>
            </a:extLst>
          </p:cNvPr>
          <p:cNvSpPr>
            <a:spLocks xmlns:a="http://schemas.openxmlformats.org/drawingml/2006/main" noGrp="1"/>
          </p:cNvSpPr>
          <p:nvPr/>
        </p:nvSpPr>
        <p:spPr>
          <a:xfrm xmlns:a="http://schemas.openxmlformats.org/drawingml/2006/main">
            <a:off x="781050" y="1981200"/>
            <a:ext cx="6953250" cy="27813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6" name="">
            <a:extLst xmlns:a="http://schemas.openxmlformats.org/drawingml/2006/main">
              <a:ext uri="{FF2B5EF4-FFF2-40B4-BE49-F238E27FC236}">
                <a16:creationId xmlns:a16="http://schemas.microsoft.com/office/drawing/2014/main" id="{BA42C387-BC0B-423D-90AA-DD7AD48A42AC}"/>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纵向花坛与丰富林下景观效果参考（业主提供）</a:t>
            </a:r>
          </a:p>
        </p:txBody>
      </p:sp>
      <p:sp>
        <p:nvSpPr>
          <p:cNvPr id="7" name="">
            <a:extLst xmlns:a="http://schemas.openxmlformats.org/drawingml/2006/main">
              <a:ext uri="{FF2B5EF4-FFF2-40B4-BE49-F238E27FC236}">
                <a16:creationId xmlns:a16="http://schemas.microsoft.com/office/drawing/2014/main" id="{BBFF473B-61F9-4FB5-9311-67B8B6806029}"/>
              </a:ext>
            </a:extLst>
          </p:cNvPr>
          <p:cNvSpPr>
            <a:spLocks xmlns:a="http://schemas.openxmlformats.org/drawingml/2006/main" noGrp="1"/>
          </p:cNvSpPr>
          <p:nvPr/>
        </p:nvSpPr>
        <p:spPr>
          <a:xfrm xmlns:a="http://schemas.openxmlformats.org/drawingml/2006/main">
            <a:off x="8096250" y="2038350"/>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优先建议</a:t>
            </a:r>
          </a:p>
        </p:txBody>
      </p:sp>
      <p:sp>
        <p:nvSpPr>
          <p:cNvPr id="8" name="">
            <a:extLst xmlns:a="http://schemas.openxmlformats.org/drawingml/2006/main">
              <a:ext uri="{FF2B5EF4-FFF2-40B4-BE49-F238E27FC236}">
                <a16:creationId xmlns:a16="http://schemas.microsoft.com/office/drawing/2014/main" id="{8D7A2665-538A-48A4-AB46-76F75DAF610E}"/>
              </a:ext>
            </a:extLst>
          </p:cNvPr>
          <p:cNvSpPr>
            <a:spLocks xmlns:a="http://schemas.openxmlformats.org/drawingml/2006/main" noGrp="1"/>
          </p:cNvSpPr>
          <p:nvPr/>
        </p:nvSpPr>
        <p:spPr>
          <a:xfrm xmlns:a="http://schemas.openxmlformats.org/drawingml/2006/main">
            <a:off x="8096250" y="2362200"/>
            <a:ext cx="3257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优化内部车行路线</a:t>
            </a:r>
          </a:p>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采用纵向花坛</a:t>
            </a:r>
          </a:p>
        </p:txBody>
      </p:sp>
      <p:sp>
        <p:nvSpPr>
          <p:cNvPr id="9" name="">
            <a:extLst xmlns:a="http://schemas.openxmlformats.org/drawingml/2006/main">
              <a:ext uri="{FF2B5EF4-FFF2-40B4-BE49-F238E27FC236}">
                <a16:creationId xmlns:a16="http://schemas.microsoft.com/office/drawing/2014/main" id="{4F67E75C-5EC0-427A-92FF-D9EF9D0CF5E9}"/>
              </a:ext>
            </a:extLst>
          </p:cNvPr>
          <p:cNvSpPr>
            <a:spLocks xmlns:a="http://schemas.openxmlformats.org/drawingml/2006/main" noGrp="1"/>
          </p:cNvSpPr>
          <p:nvPr/>
        </p:nvSpPr>
        <p:spPr>
          <a:xfrm xmlns:a="http://schemas.openxmlformats.org/drawingml/2006/main">
            <a:off x="8096250" y="3314700"/>
            <a:ext cx="3257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在不影响消防、车辆转弯和日常通行的前提下，调整小区内部车行路线，为入口两侧释放空间。</a:t>
            </a:r>
          </a:p>
        </p:txBody>
      </p:sp>
      <p:sp>
        <p:nvSpPr>
          <p:cNvPr id="10" name="">
            <a:extLst xmlns:a="http://schemas.openxmlformats.org/drawingml/2006/main">
              <a:ext uri="{FF2B5EF4-FFF2-40B4-BE49-F238E27FC236}">
                <a16:creationId xmlns:a16="http://schemas.microsoft.com/office/drawing/2014/main" id="{C1A05CF5-0DD8-4498-A28C-28678D7B9D44}"/>
              </a:ext>
            </a:extLst>
          </p:cNvPr>
          <p:cNvSpPr>
            <a:spLocks xmlns:a="http://schemas.openxmlformats.org/drawingml/2006/main" noGrp="1"/>
          </p:cNvSpPr>
          <p:nvPr/>
        </p:nvSpPr>
        <p:spPr>
          <a:xfrm xmlns:a="http://schemas.openxmlformats.org/drawingml/2006/main">
            <a:off x="8096250" y="4333875"/>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景观效果</a:t>
            </a:r>
          </a:p>
        </p:txBody>
      </p:sp>
      <p:sp>
        <p:nvSpPr>
          <p:cNvPr id="11" name="">
            <a:extLst xmlns:a="http://schemas.openxmlformats.org/drawingml/2006/main">
              <a:ext uri="{FF2B5EF4-FFF2-40B4-BE49-F238E27FC236}">
                <a16:creationId xmlns:a16="http://schemas.microsoft.com/office/drawing/2014/main" id="{E91082F5-B007-40EA-AC90-9C3E4A859EDB}"/>
              </a:ext>
            </a:extLst>
          </p:cNvPr>
          <p:cNvSpPr>
            <a:spLocks xmlns:a="http://schemas.openxmlformats.org/drawingml/2006/main" noGrp="1"/>
          </p:cNvSpPr>
          <p:nvPr/>
        </p:nvSpPr>
        <p:spPr>
          <a:xfrm xmlns:a="http://schemas.openxmlformats.org/drawingml/2006/main">
            <a:off x="8096250" y="4657725"/>
            <a:ext cx="3257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纵向花坛可增加前后层次，容纳更完整的罗汉松与林下植物组合，入口造景更丰富。</a:t>
            </a:r>
          </a:p>
        </p:txBody>
      </p:sp>
      <p:sp>
        <p:nvSpPr>
          <p:cNvPr id="12" name="">
            <a:extLst xmlns:a="http://schemas.openxmlformats.org/drawingml/2006/main">
              <a:ext uri="{FF2B5EF4-FFF2-40B4-BE49-F238E27FC236}">
                <a16:creationId xmlns:a16="http://schemas.microsoft.com/office/drawing/2014/main" id="{97A1C96C-3ED9-4C8E-901A-52C5F2633DF4}"/>
              </a:ext>
            </a:extLst>
          </p:cNvPr>
          <p:cNvSpPr>
            <a:spLocks xmlns:a="http://schemas.openxmlformats.org/drawingml/2006/main" noGrp="1"/>
          </p:cNvSpPr>
          <p:nvPr/>
        </p:nvSpPr>
        <p:spPr>
          <a:xfrm xmlns:a="http://schemas.openxmlformats.org/drawingml/2006/main">
            <a:off x="781050" y="5467350"/>
            <a:ext cx="76200" cy="704850"/>
          </a:xfrm>
          <a:prstGeom xmlns:a="http://schemas.openxmlformats.org/drawingml/2006/main" prst="rect">
            <a:avLst/>
          </a:prstGeom>
          <a:solidFill xmlns:a="http://schemas.openxmlformats.org/drawingml/2006/main">
            <a:srgbClr val="A8895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1310D1-C789-446F-8AF7-C1E3E34D27D9}"/>
              </a:ext>
            </a:extLst>
          </p:cNvPr>
          <p:cNvSpPr>
            <a:spLocks xmlns:a="http://schemas.openxmlformats.org/drawingml/2006/main" noGrp="1"/>
          </p:cNvSpPr>
          <p:nvPr/>
        </p:nvSpPr>
        <p:spPr>
          <a:xfrm xmlns:a="http://schemas.openxmlformats.org/drawingml/2006/main">
            <a:off x="1028700" y="5438775"/>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A8895E"/>
                </a:solidFill>
                <a:latin typeface="Alibaba PuHuiTi 3.0"/>
                <a:ea typeface="Alibaba PuHuiTi 3.0"/>
                <a:cs typeface="Alibaba PuHuiTi 3.0"/>
              </a:defRPr>
            </a:pPr>
            <a:r>
              <a:rPr sz="1275" b="1">
                <a:solidFill>
                  <a:srgbClr val="A8895E"/>
                </a:solidFill>
                <a:latin typeface="Alibaba PuHuiTi 3.0"/>
                <a:ea typeface="Alibaba PuHuiTi 3.0"/>
                <a:cs typeface="Alibaba PuHuiTi 3.0"/>
              </a:rPr>
              <a:t>保底方案</a:t>
            </a:r>
          </a:p>
        </p:txBody>
      </p:sp>
      <p:sp>
        <p:nvSpPr>
          <p:cNvPr id="14" name="">
            <a:extLst xmlns:a="http://schemas.openxmlformats.org/drawingml/2006/main">
              <a:ext uri="{FF2B5EF4-FFF2-40B4-BE49-F238E27FC236}">
                <a16:creationId xmlns:a16="http://schemas.microsoft.com/office/drawing/2014/main" id="{C9958C6D-31F6-4DD3-BC9A-FCF10DE897DE}"/>
              </a:ext>
            </a:extLst>
          </p:cNvPr>
          <p:cNvSpPr>
            <a:spLocks xmlns:a="http://schemas.openxmlformats.org/drawingml/2006/main" noGrp="1"/>
          </p:cNvSpPr>
          <p:nvPr/>
        </p:nvSpPr>
        <p:spPr>
          <a:xfrm xmlns:a="http://schemas.openxmlformats.org/drawingml/2006/main">
            <a:off x="1028700" y="5705475"/>
            <a:ext cx="1032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202824"/>
                </a:solidFill>
                <a:latin typeface="Alibaba PuHuiTi 3.0"/>
                <a:ea typeface="Alibaba PuHuiTi 3.0"/>
                <a:cs typeface="Alibaba PuHuiTi 3.0"/>
              </a:defRPr>
            </a:pPr>
            <a:r>
              <a:rPr sz="1575" b="1">
                <a:solidFill>
                  <a:srgbClr val="202824"/>
                </a:solidFill>
                <a:latin typeface="Alibaba PuHuiTi 3.0"/>
                <a:ea typeface="Alibaba PuHuiTi 3.0"/>
                <a:cs typeface="Alibaba PuHuiTi 3.0"/>
              </a:rPr>
              <a:t>如内部车行路线无法调整，则采用横向花坛，控制进深并确保通行安全。</a:t>
            </a:r>
          </a:p>
        </p:txBody>
      </p:sp>
      <p:sp>
        <p:nvSpPr>
          <p:cNvPr id="15" name="">
            <a:extLst xmlns:a="http://schemas.openxmlformats.org/drawingml/2006/main">
              <a:ext uri="{FF2B5EF4-FFF2-40B4-BE49-F238E27FC236}">
                <a16:creationId xmlns:a16="http://schemas.microsoft.com/office/drawing/2014/main" id="{A4993425-852E-4383-B1A8-029F63798B9C}"/>
              </a:ext>
            </a:extLst>
          </p:cNvPr>
          <p:cNvSpPr>
            <a:spLocks xmlns:a="http://schemas.openxmlformats.org/drawingml/2006/main" noGrp="1"/>
          </p:cNvSpPr>
          <p:nvPr/>
        </p:nvSpPr>
        <p:spPr>
          <a:xfrm xmlns:a="http://schemas.openxmlformats.org/drawingml/2006/main">
            <a:off x="1028700" y="6029325"/>
            <a:ext cx="103251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最终方案应完成交通组织、消防疏散和现场尺寸复核，并与业主代表确认。</a:t>
            </a:r>
          </a:p>
        </p:txBody>
      </p:sp>
      <p:sp>
        <p:nvSpPr>
          <p:cNvPr id="16" name="">
            <a:extLst xmlns:a="http://schemas.openxmlformats.org/drawingml/2006/main">
              <a:ext uri="{FF2B5EF4-FFF2-40B4-BE49-F238E27FC236}">
                <a16:creationId xmlns:a16="http://schemas.microsoft.com/office/drawing/2014/main" id="{6DEABA94-9F87-4B64-94A3-2822329A38F3}"/>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07</a:t>
            </a:r>
          </a:p>
        </p:txBody>
      </p:sp>
    </p:spTree>
    <p:extLst>
      <p:ext uri="{BB962C8B-B14F-4D97-AF65-F5344CB8AC3E}">
        <p14:creationId xmlns:p14="http://schemas.microsoft.com/office/powerpoint/2010/main" val="106932587"/>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E3EA436-91E7-48B8-9F46-603EB90F1C1B}"/>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07</a:t>
            </a:r>
          </a:p>
        </p:txBody>
      </p:sp>
      <p:sp>
        <p:nvSpPr>
          <p:cNvPr id="2" name="">
            <a:extLst xmlns:a="http://schemas.openxmlformats.org/drawingml/2006/main">
              <a:ext uri="{FF2B5EF4-FFF2-40B4-BE49-F238E27FC236}">
                <a16:creationId xmlns:a16="http://schemas.microsoft.com/office/drawing/2014/main" id="{4757CE69-2FC5-4BE0-9929-B4F6B0F7C8A9}"/>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保底方案：车道无法优化时，采用横向小花坛</a:t>
            </a:r>
          </a:p>
        </p:txBody>
      </p:sp>
      <p:sp>
        <p:nvSpPr>
          <p:cNvPr id="3" name="">
            <a:extLst xmlns:a="http://schemas.openxmlformats.org/drawingml/2006/main">
              <a:ext uri="{FF2B5EF4-FFF2-40B4-BE49-F238E27FC236}">
                <a16:creationId xmlns:a16="http://schemas.microsoft.com/office/drawing/2014/main" id="{50A19FDA-E528-4C83-A319-B77F0040F258}"/>
              </a:ext>
            </a:extLst>
          </p:cNvPr>
          <p:cNvSpPr>
            <a:spLocks xmlns:a="http://schemas.openxmlformats.org/drawingml/2006/main" noGrp="1"/>
          </p:cNvSpPr>
          <p:nvPr/>
        </p:nvSpPr>
        <p:spPr>
          <a:xfrm xmlns:a="http://schemas.openxmlformats.org/drawingml/2006/main">
            <a:off x="781050" y="14573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控制花坛进深，保留两侧对称景观，并保证人行与车行安全</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2159b1028fd44b9"/>
          <a:srcRect xmlns:a="http://schemas.openxmlformats.org/drawingml/2006/main" l="13" t="0" r="13" b="0"/>
          <a:stretch xmlns:a="http://schemas.openxmlformats.org/drawingml/2006/main">
            <a:fillRect l="0" t="0" r="0" b="0"/>
          </a:stretch>
        </p:blipFill>
        <p:spPr>
          <a:xfrm xmlns:a="http://schemas.openxmlformats.org/drawingml/2006/main">
            <a:off x="781050" y="1981200"/>
            <a:ext cx="6953250" cy="2781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6A22803-B6EB-49FB-9719-4A5DAD548069}"/>
              </a:ext>
            </a:extLst>
          </p:cNvPr>
          <p:cNvSpPr>
            <a:spLocks xmlns:a="http://schemas.openxmlformats.org/drawingml/2006/main" noGrp="1"/>
          </p:cNvSpPr>
          <p:nvPr/>
        </p:nvSpPr>
        <p:spPr>
          <a:xfrm xmlns:a="http://schemas.openxmlformats.org/drawingml/2006/main">
            <a:off x="781050" y="1981200"/>
            <a:ext cx="6953250" cy="27813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6" name="">
            <a:extLst xmlns:a="http://schemas.openxmlformats.org/drawingml/2006/main">
              <a:ext uri="{FF2B5EF4-FFF2-40B4-BE49-F238E27FC236}">
                <a16:creationId xmlns:a16="http://schemas.microsoft.com/office/drawing/2014/main" id="{CC7AC57E-3CDE-4D26-B448-24B66E9352F2}"/>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横向小花坛效果参考（业主提供）</a:t>
            </a:r>
          </a:p>
        </p:txBody>
      </p:sp>
      <p:sp>
        <p:nvSpPr>
          <p:cNvPr id="7" name="">
            <a:extLst xmlns:a="http://schemas.openxmlformats.org/drawingml/2006/main">
              <a:ext uri="{FF2B5EF4-FFF2-40B4-BE49-F238E27FC236}">
                <a16:creationId xmlns:a16="http://schemas.microsoft.com/office/drawing/2014/main" id="{47190E19-B5B6-4EE6-A73B-FA9080FCAE91}"/>
              </a:ext>
            </a:extLst>
          </p:cNvPr>
          <p:cNvSpPr>
            <a:spLocks xmlns:a="http://schemas.openxmlformats.org/drawingml/2006/main" noGrp="1"/>
          </p:cNvSpPr>
          <p:nvPr/>
        </p:nvSpPr>
        <p:spPr>
          <a:xfrm xmlns:a="http://schemas.openxmlformats.org/drawingml/2006/main">
            <a:off x="8096250" y="2038350"/>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适用条件</a:t>
            </a:r>
          </a:p>
        </p:txBody>
      </p:sp>
      <p:sp>
        <p:nvSpPr>
          <p:cNvPr id="8" name="">
            <a:extLst xmlns:a="http://schemas.openxmlformats.org/drawingml/2006/main">
              <a:ext uri="{FF2B5EF4-FFF2-40B4-BE49-F238E27FC236}">
                <a16:creationId xmlns:a16="http://schemas.microsoft.com/office/drawing/2014/main" id="{759587B9-AE7E-4E8B-B1D5-B5D2AB846B76}"/>
              </a:ext>
            </a:extLst>
          </p:cNvPr>
          <p:cNvSpPr>
            <a:spLocks xmlns:a="http://schemas.openxmlformats.org/drawingml/2006/main" noGrp="1"/>
          </p:cNvSpPr>
          <p:nvPr/>
        </p:nvSpPr>
        <p:spPr>
          <a:xfrm xmlns:a="http://schemas.openxmlformats.org/drawingml/2006/main">
            <a:off x="8096250" y="2362200"/>
            <a:ext cx="3257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内部车行路线</a:t>
            </a:r>
          </a:p>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经论证无法调整</a:t>
            </a:r>
          </a:p>
        </p:txBody>
      </p:sp>
      <p:sp>
        <p:nvSpPr>
          <p:cNvPr id="9" name="">
            <a:extLst xmlns:a="http://schemas.openxmlformats.org/drawingml/2006/main">
              <a:ext uri="{FF2B5EF4-FFF2-40B4-BE49-F238E27FC236}">
                <a16:creationId xmlns:a16="http://schemas.microsoft.com/office/drawing/2014/main" id="{B52F7245-69BB-4BFB-99B1-6368584A1DF0}"/>
              </a:ext>
            </a:extLst>
          </p:cNvPr>
          <p:cNvSpPr>
            <a:spLocks xmlns:a="http://schemas.openxmlformats.org/drawingml/2006/main" noGrp="1"/>
          </p:cNvSpPr>
          <p:nvPr/>
        </p:nvSpPr>
        <p:spPr>
          <a:xfrm xmlns:a="http://schemas.openxmlformats.org/drawingml/2006/main">
            <a:off x="8096250" y="3305175"/>
            <a:ext cx="32575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两侧采用横向小花坛和小型罗汉松，控制突出尺度，保留入口的对称秩序。</a:t>
            </a:r>
          </a:p>
        </p:txBody>
      </p:sp>
      <p:sp>
        <p:nvSpPr>
          <p:cNvPr id="10" name="">
            <a:extLst xmlns:a="http://schemas.openxmlformats.org/drawingml/2006/main">
              <a:ext uri="{FF2B5EF4-FFF2-40B4-BE49-F238E27FC236}">
                <a16:creationId xmlns:a16="http://schemas.microsoft.com/office/drawing/2014/main" id="{18676DC2-6412-427D-A629-91538876D364}"/>
              </a:ext>
            </a:extLst>
          </p:cNvPr>
          <p:cNvSpPr>
            <a:spLocks xmlns:a="http://schemas.openxmlformats.org/drawingml/2006/main" noGrp="1"/>
          </p:cNvSpPr>
          <p:nvPr/>
        </p:nvSpPr>
        <p:spPr>
          <a:xfrm xmlns:a="http://schemas.openxmlformats.org/drawingml/2006/main">
            <a:off x="8096250" y="4276725"/>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安全要求</a:t>
            </a:r>
          </a:p>
        </p:txBody>
      </p:sp>
      <p:sp>
        <p:nvSpPr>
          <p:cNvPr id="11" name="">
            <a:extLst xmlns:a="http://schemas.openxmlformats.org/drawingml/2006/main">
              <a:ext uri="{FF2B5EF4-FFF2-40B4-BE49-F238E27FC236}">
                <a16:creationId xmlns:a16="http://schemas.microsoft.com/office/drawing/2014/main" id="{E6B0E223-2EDA-4008-A344-A0CBEC0A9BF0}"/>
              </a:ext>
            </a:extLst>
          </p:cNvPr>
          <p:cNvSpPr>
            <a:spLocks xmlns:a="http://schemas.openxmlformats.org/drawingml/2006/main" noGrp="1"/>
          </p:cNvSpPr>
          <p:nvPr/>
        </p:nvSpPr>
        <p:spPr>
          <a:xfrm xmlns:a="http://schemas.openxmlformats.org/drawingml/2006/main">
            <a:off x="8096250" y="4648200"/>
            <a:ext cx="3257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花坛不得压缩必要通行空间，不遮挡驾驶员视线，树池须完成防倾覆和排水设计。</a:t>
            </a:r>
          </a:p>
        </p:txBody>
      </p:sp>
      <p:sp>
        <p:nvSpPr>
          <p:cNvPr id="12" name="">
            <a:extLst xmlns:a="http://schemas.openxmlformats.org/drawingml/2006/main">
              <a:ext uri="{FF2B5EF4-FFF2-40B4-BE49-F238E27FC236}">
                <a16:creationId xmlns:a16="http://schemas.microsoft.com/office/drawing/2014/main" id="{A9D0EF72-A1EE-41A1-980D-9C0919FB84E6}"/>
              </a:ext>
            </a:extLst>
          </p:cNvPr>
          <p:cNvSpPr>
            <a:spLocks xmlns:a="http://schemas.openxmlformats.org/drawingml/2006/main" noGrp="1"/>
          </p:cNvSpPr>
          <p:nvPr/>
        </p:nvSpPr>
        <p:spPr>
          <a:xfrm xmlns:a="http://schemas.openxmlformats.org/drawingml/2006/main">
            <a:off x="781050" y="5467350"/>
            <a:ext cx="76200" cy="704850"/>
          </a:xfrm>
          <a:prstGeom xmlns:a="http://schemas.openxmlformats.org/drawingml/2006/main" prst="rect">
            <a:avLst/>
          </a:prstGeom>
          <a:solidFill xmlns:a="http://schemas.openxmlformats.org/drawingml/2006/main">
            <a:srgbClr val="A8895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000434-D7A6-4567-9EBE-BA11B1136396}"/>
              </a:ext>
            </a:extLst>
          </p:cNvPr>
          <p:cNvSpPr>
            <a:spLocks xmlns:a="http://schemas.openxmlformats.org/drawingml/2006/main" noGrp="1"/>
          </p:cNvSpPr>
          <p:nvPr/>
        </p:nvSpPr>
        <p:spPr>
          <a:xfrm xmlns:a="http://schemas.openxmlformats.org/drawingml/2006/main">
            <a:off x="1028700" y="5438775"/>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A8895E"/>
                </a:solidFill>
                <a:latin typeface="Alibaba PuHuiTi 3.0"/>
                <a:ea typeface="Alibaba PuHuiTi 3.0"/>
                <a:cs typeface="Alibaba PuHuiTi 3.0"/>
              </a:defRPr>
            </a:pPr>
            <a:r>
              <a:rPr sz="1275" b="1">
                <a:solidFill>
                  <a:srgbClr val="A8895E"/>
                </a:solidFill>
                <a:latin typeface="Alibaba PuHuiTi 3.0"/>
                <a:ea typeface="Alibaba PuHuiTi 3.0"/>
                <a:cs typeface="Alibaba PuHuiTi 3.0"/>
              </a:rPr>
              <a:t>方案定位</a:t>
            </a:r>
          </a:p>
        </p:txBody>
      </p:sp>
      <p:sp>
        <p:nvSpPr>
          <p:cNvPr id="14" name="">
            <a:extLst xmlns:a="http://schemas.openxmlformats.org/drawingml/2006/main">
              <a:ext uri="{FF2B5EF4-FFF2-40B4-BE49-F238E27FC236}">
                <a16:creationId xmlns:a16="http://schemas.microsoft.com/office/drawing/2014/main" id="{1D876C4E-0D22-4646-A821-05DE238F2664}"/>
              </a:ext>
            </a:extLst>
          </p:cNvPr>
          <p:cNvSpPr>
            <a:spLocks xmlns:a="http://schemas.openxmlformats.org/drawingml/2006/main" noGrp="1"/>
          </p:cNvSpPr>
          <p:nvPr/>
        </p:nvSpPr>
        <p:spPr>
          <a:xfrm xmlns:a="http://schemas.openxmlformats.org/drawingml/2006/main">
            <a:off x="1028700" y="5705475"/>
            <a:ext cx="1032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202824"/>
                </a:solidFill>
                <a:latin typeface="Alibaba PuHuiTi 3.0"/>
                <a:ea typeface="Alibaba PuHuiTi 3.0"/>
                <a:cs typeface="Alibaba PuHuiTi 3.0"/>
              </a:defRPr>
            </a:pPr>
            <a:r>
              <a:rPr sz="1575" b="1">
                <a:solidFill>
                  <a:srgbClr val="202824"/>
                </a:solidFill>
                <a:latin typeface="Alibaba PuHuiTi 3.0"/>
                <a:ea typeface="Alibaba PuHuiTi 3.0"/>
                <a:cs typeface="Alibaba PuHuiTi 3.0"/>
              </a:rPr>
              <a:t>该方案仅作为车道优化方案无法实施时的保底选项。</a:t>
            </a:r>
          </a:p>
        </p:txBody>
      </p:sp>
      <p:sp>
        <p:nvSpPr>
          <p:cNvPr id="15" name="">
            <a:extLst xmlns:a="http://schemas.openxmlformats.org/drawingml/2006/main">
              <a:ext uri="{FF2B5EF4-FFF2-40B4-BE49-F238E27FC236}">
                <a16:creationId xmlns:a16="http://schemas.microsoft.com/office/drawing/2014/main" id="{9545592A-87BD-4A6A-9FF6-245F35C3A797}"/>
              </a:ext>
            </a:extLst>
          </p:cNvPr>
          <p:cNvSpPr>
            <a:spLocks xmlns:a="http://schemas.openxmlformats.org/drawingml/2006/main" noGrp="1"/>
          </p:cNvSpPr>
          <p:nvPr/>
        </p:nvSpPr>
        <p:spPr>
          <a:xfrm xmlns:a="http://schemas.openxmlformats.org/drawingml/2006/main">
            <a:off x="1028700" y="6029325"/>
            <a:ext cx="103251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最终尺寸、树种规格和基础做法由开发商深化，并与业主代表确认。</a:t>
            </a:r>
          </a:p>
        </p:txBody>
      </p:sp>
      <p:sp>
        <p:nvSpPr>
          <p:cNvPr id="16" name="">
            <a:extLst xmlns:a="http://schemas.openxmlformats.org/drawingml/2006/main">
              <a:ext uri="{FF2B5EF4-FFF2-40B4-BE49-F238E27FC236}">
                <a16:creationId xmlns:a16="http://schemas.microsoft.com/office/drawing/2014/main" id="{8D90E64B-301E-4727-8FE6-3DCEBC6B962B}"/>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08</a:t>
            </a:r>
          </a:p>
        </p:txBody>
      </p:sp>
    </p:spTree>
    <p:extLst>
      <p:ext uri="{BB962C8B-B14F-4D97-AF65-F5344CB8AC3E}">
        <p14:creationId xmlns:p14="http://schemas.microsoft.com/office/powerpoint/2010/main" val="1022077432"/>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08</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核心诉求</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09</a:t>
            </a:r>
          </a:p>
        </p:txBody>
      </p:sp>
      <p:sp>
        <p:nvSpPr>
          <p:cNvPr id="12" name="">
            <a:extLst xmlns:a="http://schemas.openxmlformats.org/drawingml/2006/main">
              <a:ext uri="{FF2B5EF4-FFF2-40B4-BE49-F238E27FC236}">
                <a16:creationId xmlns:a16="http://schemas.microsoft.com/office/drawing/2014/main" id="{D6320302-BC2A-4215-A5E8-ED90680C9F13}"/>
              </a:ext>
            </a:extLst>
          </p:cNvPr>
          <p:cNvSpPr>
            <a:spLocks xmlns:a="http://schemas.openxmlformats.org/drawingml/2006/main" noGrp="1"/>
          </p:cNvSpPr>
          <p:nvPr/>
        </p:nvSpPr>
        <p:spPr>
          <a:xfrm xmlns:a="http://schemas.openxmlformats.org/drawingml/2006/main">
            <a:off x="1047750" y="2381250"/>
            <a:ext cx="1009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4350" b="1">
                <a:solidFill>
                  <a:srgbClr val="202824"/>
                </a:solidFill>
                <a:latin typeface="Alibaba PuHuiTi 3.0"/>
                <a:ea typeface="Alibaba PuHuiTi 3.0"/>
                <a:cs typeface="Alibaba PuHuiTi 3.0"/>
              </a:defRPr>
            </a:pPr>
            <a:r>
              <a:rPr sz="4350" b="1">
                <a:solidFill>
                  <a:srgbClr val="202824"/>
                </a:solidFill>
                <a:latin typeface="Alibaba PuHuiTi 3.0"/>
                <a:ea typeface="Alibaba PuHuiTi 3.0"/>
                <a:cs typeface="Alibaba PuHuiTi 3.0"/>
              </a:rPr>
              <a:t>保持入口整体造景品质</a:t>
            </a:r>
          </a:p>
        </p:txBody>
      </p:sp>
      <p:sp>
        <p:nvSpPr>
          <p:cNvPr id="13" name="">
            <a:extLst xmlns:a="http://schemas.openxmlformats.org/drawingml/2006/main">
              <a:ext uri="{FF2B5EF4-FFF2-40B4-BE49-F238E27FC236}">
                <a16:creationId xmlns:a16="http://schemas.microsoft.com/office/drawing/2014/main" id="{7E726249-8AD6-4838-B268-37692C50E6BC}"/>
              </a:ext>
            </a:extLst>
          </p:cNvPr>
          <p:cNvSpPr>
            <a:spLocks xmlns:a="http://schemas.openxmlformats.org/drawingml/2006/main" noGrp="1"/>
          </p:cNvSpPr>
          <p:nvPr/>
        </p:nvSpPr>
        <p:spPr>
          <a:xfrm xmlns:a="http://schemas.openxmlformats.org/drawingml/2006/main">
            <a:off x="1809750" y="3810000"/>
            <a:ext cx="8572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950" b="0">
                <a:solidFill>
                  <a:srgbClr val="526159"/>
                </a:solidFill>
                <a:latin typeface="Alibaba PuHuiTi 3.0"/>
                <a:ea typeface="Alibaba PuHuiTi 3.0"/>
                <a:cs typeface="Alibaba PuHuiTi 3.0"/>
              </a:defRPr>
            </a:pPr>
            <a:r>
              <a:rPr sz="1950" b="0">
                <a:solidFill>
                  <a:srgbClr val="526159"/>
                </a:solidFill>
                <a:latin typeface="Alibaba PuHuiTi 3.0"/>
                <a:ea typeface="Alibaba PuHuiTi 3.0"/>
                <a:cs typeface="Alibaba PuHuiTi 3.0"/>
              </a:rPr>
              <a:t>最终整改应保持入口景观的完整性和质感，避免简单拼凑或明显降档。</a:t>
            </a:r>
          </a:p>
        </p:txBody>
      </p:sp>
    </p:spTree>
    <p:extLst>
      <p:ext uri="{BB962C8B-B14F-4D97-AF65-F5344CB8AC3E}">
        <p14:creationId xmlns:p14="http://schemas.microsoft.com/office/powerpoint/2010/main" val="4726158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2026-10-03T13:56:03.3020000Z</dcterms:created>
  <dcterms:modified xsi:type="dcterms:W3CDTF">2026-10-03T13:56:03.3020000Z</dcterms:modified>
</coreProperties>
</file>
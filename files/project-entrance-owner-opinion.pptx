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e32423cc0944b73" /><Relationship Type="http://schemas.openxmlformats.org/officeDocument/2006/relationships/extended-properties" Target="/docProps/app.xml" Id="R2b4102a1f1a34d82" /><Relationship Type="http://schemas.openxmlformats.org/officeDocument/2006/relationships/officeDocument" Target="/ppt/presentation.xml" Id="Rbed1f08cb2d34844" /></Relationships>
</file>

<file path=ppt/presentation.xml><?xml version="1.0" encoding="utf-8"?>
<p:presentation xmlns:p="http://schemas.openxmlformats.org/presentationml/2006/main">
  <p:sldMasterIdLst>
    <p:sldMasterId xmlns:r="http://schemas.openxmlformats.org/officeDocument/2006/relationships" id="2147483648" r:id="R3d9bf956ded34854"/>
  </p:sldMasterIdLst>
  <p:notesMasterIdLst>
    <p:notesMasterId xmlns:r="http://schemas.openxmlformats.org/officeDocument/2006/relationships" r:id="R33db9f61487f4acb"/>
  </p:notesMasterIdLst>
  <p:sldIdLst>
    <p:sldId xmlns:r="http://schemas.openxmlformats.org/officeDocument/2006/relationships" id="256" r:id="R031e8b85b40e41a4"/>
    <p:sldId xmlns:r="http://schemas.openxmlformats.org/officeDocument/2006/relationships" id="257" r:id="R005a23e63d744aff"/>
    <p:sldId xmlns:r="http://schemas.openxmlformats.org/officeDocument/2006/relationships" id="258" r:id="R0f82c949853841d7"/>
    <p:sldId xmlns:r="http://schemas.openxmlformats.org/officeDocument/2006/relationships" id="259" r:id="R1e24d288e80f4a54"/>
    <p:sldId xmlns:r="http://schemas.openxmlformats.org/officeDocument/2006/relationships" id="260" r:id="R9e7364d82f8e4633"/>
    <p:sldId xmlns:r="http://schemas.openxmlformats.org/officeDocument/2006/relationships" id="261" r:id="Rd2e56d303bfb45c1"/>
    <p:sldId xmlns:r="http://schemas.openxmlformats.org/officeDocument/2006/relationships" id="262" r:id="R0ee9e1e96534471c"/>
    <p:sldId xmlns:r="http://schemas.openxmlformats.org/officeDocument/2006/relationships" id="263" r:id="Re77f1c6adf4a404c"/>
    <p:sldId xmlns:r="http://schemas.openxmlformats.org/officeDocument/2006/relationships" id="264" r:id="R5d5d3c122f9b471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c0e6c6993ec4ee3" /><Relationship Type="http://schemas.openxmlformats.org/officeDocument/2006/relationships/slideMaster" Target="/ppt/slideMasters/slideMaster1.xml" Id="R3d9bf956ded34854" /><Relationship Type="http://schemas.openxmlformats.org/officeDocument/2006/relationships/notesMaster" Target="/ppt/notesMasters/notesMaster1.xml" Id="R33db9f61487f4acb" /><Relationship Type="http://schemas.openxmlformats.org/officeDocument/2006/relationships/presProps" Target="/ppt/presProps.xml" Id="R7914d5afc9704b05" /><Relationship Type="http://schemas.openxmlformats.org/officeDocument/2006/relationships/tableStyles" Target="/ppt/tableStyles.xml" Id="Rb64c3461321e40c5" /><Relationship Type="http://schemas.openxmlformats.org/officeDocument/2006/relationships/slide" Target="/ppt/slides/slide1.xml" Id="R031e8b85b40e41a4" /><Relationship Type="http://schemas.openxmlformats.org/officeDocument/2006/relationships/slide" Target="/ppt/slides/slide2.xml" Id="R005a23e63d744aff" /><Relationship Type="http://schemas.openxmlformats.org/officeDocument/2006/relationships/slide" Target="/ppt/slides/slide3.xml" Id="R0f82c949853841d7" /><Relationship Type="http://schemas.openxmlformats.org/officeDocument/2006/relationships/slide" Target="/ppt/slides/slide4.xml" Id="R1e24d288e80f4a54" /><Relationship Type="http://schemas.openxmlformats.org/officeDocument/2006/relationships/slide" Target="/ppt/slides/slide5.xml" Id="R9e7364d82f8e4633" /><Relationship Type="http://schemas.openxmlformats.org/officeDocument/2006/relationships/slide" Target="/ppt/slides/slide6.xml" Id="Rd2e56d303bfb45c1" /><Relationship Type="http://schemas.openxmlformats.org/officeDocument/2006/relationships/slide" Target="/ppt/slides/slide7.xml" Id="R0ee9e1e96534471c" /><Relationship Type="http://schemas.openxmlformats.org/officeDocument/2006/relationships/slide" Target="/ppt/slides/slide8.xml" Id="Re77f1c6adf4a404c" /><Relationship Type="http://schemas.openxmlformats.org/officeDocument/2006/relationships/slide" Target="/ppt/slides/slide9.xml" Id="R5d5d3c122f9b471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3dc5f9680224b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928017167641a0" /><Relationship Type="http://schemas.openxmlformats.org/officeDocument/2006/relationships/notesMaster" Target="/ppt/notesMasters/notesMaster1.xml" Id="R0157ff73d70e4d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de2e4965664970" /><Relationship Type="http://schemas.openxmlformats.org/officeDocument/2006/relationships/notesMaster" Target="/ppt/notesMasters/notesMaster1.xml" Id="R611abab098604edd" /></Relationships>
</file>

<file path=ppt/notesSlides/_rels/notesSlide3.xml.rels>&#65279;<?xml version="1.0" encoding="utf-8"?><Relationships xmlns="http://schemas.openxmlformats.org/package/2006/relationships"><Relationship Type="http://schemas.openxmlformats.org/officeDocument/2006/relationships/slide" Target="/ppt/slides/slide3.xml" Id="R031ec1d8fd0149e9" /><Relationship Type="http://schemas.openxmlformats.org/officeDocument/2006/relationships/notesMaster" Target="/ppt/notesMasters/notesMaster1.xml" Id="R6d06c8ae4a9848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4790dbb3158423b" /><Relationship Type="http://schemas.openxmlformats.org/officeDocument/2006/relationships/notesMaster" Target="/ppt/notesMasters/notesMaster1.xml" Id="Rbdaf383e7d544bd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ee868b3da8a4572" /><Relationship Type="http://schemas.openxmlformats.org/officeDocument/2006/relationships/notesMaster" Target="/ppt/notesMasters/notesMaster1.xml" Id="Ra3b9aeea1f7345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58953771d3b54d02" /><Relationship Type="http://schemas.openxmlformats.org/officeDocument/2006/relationships/notesMaster" Target="/ppt/notesMasters/notesMaster1.xml" Id="Ra166a86c178e48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6cf9e5a3195a461a" /><Relationship Type="http://schemas.openxmlformats.org/officeDocument/2006/relationships/notesMaster" Target="/ppt/notesMasters/notesMaster1.xml" Id="Rf95305726bcf483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3ecfb5a23ac482e" /><Relationship Type="http://schemas.openxmlformats.org/officeDocument/2006/relationships/notesMaster" Target="/ppt/notesMasters/notesMaster1.xml" Id="Ra33adf502ea346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4eb2e38fce64481" /><Relationship Type="http://schemas.openxmlformats.org/officeDocument/2006/relationships/notesMaster" Target="/ppt/notesMasters/notesMaster1.xml" Id="R71a0089000784bf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材料用于业主就入口优化事项向开发商提出正式意见。目前仅确认后续需要优化，具体范围、方式和最终效果尚未明确。相关争议可能涉及订约诚信、具体销售说明和允诺、规划设计变更通知等法律规则；具体适用及责任范围，以合同、宣传材料、审批文件、实际影响及主管部门意见为准。请开发商就优化依据、书面方案和品质补救方案作出回复。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业主关注的不只是几级台阶，而是入口从街道到门厅之间的空间过渡。目前不能预设优化方式。开发商应说明优化范围、具体方式和最终效果，并提出相应的入口品质补救措施。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图中的红圈和箭头为业主标注，只用于说明目前沟通所指位置。请开发商书面确认涉及范围、规划红线关系、优化依据、具体方式、最终设计边界和效果。图片由业主提供。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左图为业主拍摄的销售沙盘，右图为业主提供的目前大门方案。两图视角不同，本页仅对比可见的入口形态、雨棚与台阶尺度、景观组织。业主请求开发商书面说明方案版本、变更时间、审批依据和销售阶段告知情况。最终责任认定以合同、销售材料、审批文件及主管部门意见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列明初步法律依据：一、《中华人民共和国民法典》第五百条要求订约阶段遵守诚信原则，不得故意隐瞒与订立合同有关的重要事实、提供虚假情况或有其他违背诚信原则的行为。二、《最高人民法院关于审理商品房买卖合同纠纷案件适用法律若干问题的解释》第三条规定，对开发规划范围内房屋及相关设施作出的具体说明和允诺，如对合同订立及价格有重大影响，可以构成合同内容。三、《商品房销售管理办法》第二十四条规定，特定规划、设计变更影响商品房质量或者使用功能时，开发企业负有书面通知义务。上述规则是否适用于本项目及相关要求，仍应结合合同、宣传材料、审批文件、实际影响及主管部门意见认定。</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片由业主提供并标注，显示销售沙盘中大门、小区内部车道、人行道、市政道路及进车闸机的关系。小区内部车道紧邻大门出口，车辆动线与出口行人动线可能直接交叉。请开发商提交交通组织图，说明人车分流、减速、视距和步行缓冲措施。具体风险程度以正式交通设计、现场条件和专业复核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为业主提出的优先落地方向。如经交通组织和消防校核，小区内部车行路线具备优化条件，建议适当调整车行路线，为入口两侧释放更完整的造景空间，采用两株小罗汉松、纵向花坛和林下植物组合。该方向的景观层次更丰富。如车行路线无法调整，则采用横向花坛作为保底方案。参考图由业主提供，仅用于表达造景方向，不代表最终审批或施工结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为车道优化方案无法实施时的保底方案。两侧采用横向小花坛和小型罗汉松，控制突出尺度，保留入口对称秩序。花坛不得压缩必要通行空间，不得遮挡驾驶员视线，树池须完成防倾覆和排水设计。参考图由业主提供，仅用于表达横向小花坛方向。</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本页仅保留一项核心诉求：最终优化应保持入口景观的完整性和质感，避免简单拼凑或明显降档。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f4d1b4e373041a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821f0bb1d68475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0ace6befbae432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fc92e897c8b4c2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dbdc32d4be047d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b207aa285be45c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33255FA-B1E7-4455-A8BA-037E1BF69F11}"/>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231D07C-1692-462F-9BF2-44C0B7ABFF3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9091970-395A-49EB-A562-7272E00C93C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BBFBD6C-139E-4672-B218-37B36157878D}"/>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D747C96-1044-4533-B3E9-7B0A91262CB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BAF9CB4-7C93-4582-B38A-194AED7CA86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3F85A7C-DCC0-4A66-81C5-BB6954E65F6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0483DE1-0752-4E7D-97C6-93F917CE620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B63E6A8-2650-4529-A946-22FEFC9A963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0B48B2E-3EEF-4580-8620-ACB1C5B9B8B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E3421ED-7CBA-4F84-B45F-AD93970C2B6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7E27554-87D8-4800-982E-F72B33C9534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32529F2-81F7-4B8B-B6E9-7308F370BFA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247E27B-9AE7-49D7-87CA-3567407F29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61A230A-68F3-4DA9-9175-D52CF72EF33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92cf3b64f848f4" /><Relationship Type="http://schemas.openxmlformats.org/officeDocument/2006/relationships/slideLayout" Target="/ppt/slideLayouts/slideLayout1.xml" Id="Rb60a468591b7470a" /><Relationship Type="http://schemas.openxmlformats.org/officeDocument/2006/relationships/slideLayout" Target="/ppt/slideLayouts/slideLayout2.xml" Id="R675f053f6b1b471d" /><Relationship Type="http://schemas.openxmlformats.org/officeDocument/2006/relationships/slideLayout" Target="/ppt/slideLayouts/slideLayout3.xml" Id="Rc9a4df32a1984bfe" /><Relationship Type="http://schemas.openxmlformats.org/officeDocument/2006/relationships/slideLayout" Target="/ppt/slideLayouts/slideLayout4.xml" Id="R3b355abc636b4f46" /><Relationship Type="http://schemas.openxmlformats.org/officeDocument/2006/relationships/slideLayout" Target="/ppt/slideLayouts/slideLayout5.xml" Id="Ra1b4ace21f144c3a" /><Relationship Type="http://schemas.openxmlformats.org/officeDocument/2006/relationships/slideLayout" Target="/ppt/slideLayouts/slideLayout6.xml" Id="R6889920cf9a2440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60a468591b7470a"/>
    <p:sldLayoutId xmlns:r="http://schemas.openxmlformats.org/officeDocument/2006/relationships" id="2147483650" r:id="R675f053f6b1b471d"/>
    <p:sldLayoutId xmlns:r="http://schemas.openxmlformats.org/officeDocument/2006/relationships" id="2147483651" r:id="Rc9a4df32a1984bfe"/>
    <p:sldLayoutId xmlns:r="http://schemas.openxmlformats.org/officeDocument/2006/relationships" id="2147483652" r:id="R3b355abc636b4f46"/>
    <p:sldLayoutId xmlns:r="http://schemas.openxmlformats.org/officeDocument/2006/relationships" id="2147483653" r:id="Ra1b4ace21f144c3a"/>
    <p:sldLayoutId xmlns:r="http://schemas.openxmlformats.org/officeDocument/2006/relationships" id="2147483654" r:id="R6889920cf9a2440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111c0fc58b142b3" /><Relationship Type="http://schemas.openxmlformats.org/officeDocument/2006/relationships/image" Target="/ppt/media/image.jpeg" Id="Rec67a826973349b6" /><Relationship Type="http://schemas.openxmlformats.org/officeDocument/2006/relationships/notesSlide" Target="/ppt/notesSlides/notesSlide1.xml" Id="R3f2d3e1b69a1414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36c02c6d30d4713" /><Relationship Type="http://schemas.openxmlformats.org/officeDocument/2006/relationships/notesSlide" Target="/ppt/notesSlides/notesSlide2.xml" Id="R58575269664c48e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1d75ea6e513439d" /><Relationship Type="http://schemas.openxmlformats.org/officeDocument/2006/relationships/image" Target="/ppt/media/image2.jpeg" Id="R410ae782042a45c1" /><Relationship Type="http://schemas.openxmlformats.org/officeDocument/2006/relationships/notesSlide" Target="/ppt/notesSlides/notesSlide3.xml" Id="Re4f60247921d4a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df95b9f9f724f5d" /><Relationship Type="http://schemas.openxmlformats.org/officeDocument/2006/relationships/image" Target="/ppt/media/image3.jpeg" Id="Rdb45bf96e964487f" /><Relationship Type="http://schemas.openxmlformats.org/officeDocument/2006/relationships/image" Target="/ppt/media/image4.jpeg" Id="Rc88bf442d35d4f95" /><Relationship Type="http://schemas.openxmlformats.org/officeDocument/2006/relationships/notesSlide" Target="/ppt/notesSlides/notesSlide4.xml" Id="R4dc84cda7cc5482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faa73add5614349" /><Relationship Type="http://schemas.openxmlformats.org/officeDocument/2006/relationships/notesSlide" Target="/ppt/notesSlides/notesSlide5.xml" Id="Rf7ccb0c3922546b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27e7e41084f42ef" /><Relationship Type="http://schemas.openxmlformats.org/officeDocument/2006/relationships/image" Target="/ppt/media/image.png" Id="R04c421aeafdf44b7" /><Relationship Type="http://schemas.openxmlformats.org/officeDocument/2006/relationships/notesSlide" Target="/ppt/notesSlides/notesSlide6.xml" Id="Ra6df63cb3a594fd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c62a7b892444477" /><Relationship Type="http://schemas.openxmlformats.org/officeDocument/2006/relationships/image" Target="/ppt/media/image2.png" Id="R2d364c283a96487f" /><Relationship Type="http://schemas.openxmlformats.org/officeDocument/2006/relationships/notesSlide" Target="/ppt/notesSlides/notesSlide7.xml" Id="R757f6965fe0245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e92f165c40e4041" /><Relationship Type="http://schemas.openxmlformats.org/officeDocument/2006/relationships/image" Target="/ppt/media/image3.png" Id="Re4158e97ad0a4f45" /><Relationship Type="http://schemas.openxmlformats.org/officeDocument/2006/relationships/notesSlide" Target="/ppt/notesSlides/notesSlide8.xml" Id="Red25db8e99e941c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af839cc4fc84190" /><Relationship Type="http://schemas.openxmlformats.org/officeDocument/2006/relationships/notesSlide" Target="/ppt/notesSlides/notesSlide9.xml" Id="Rb1988bdfe1d14ca9" /></Relationships>
</file>

<file path=ppt/slides/slide1.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ec67a826973349b6"/>
          <a:srcRect xmlns:a="http://schemas.openxmlformats.org/drawingml/2006/main" l="0" t="0" r="0" b="0"/>
          <a:stretch xmlns:a="http://schemas.openxmlformats.org/drawingml/2006/main">
            <a:fillRect l="0" t="0" r="0" b="0"/>
          </a:stretch>
        </p:blipFill>
        <p:spPr>
          <a:xfrm xmlns:a="http://schemas.openxmlformats.org/drawingml/2006/main">
            <a:off x="7048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1CBAC2-EDF9-4916-8C07-D06C69824511}"/>
              </a:ext>
            </a:extLst>
          </p:cNvPr>
          <p:cNvSpPr>
            <a:spLocks xmlns:a="http://schemas.openxmlformats.org/drawingml/2006/main" noGrp="1"/>
          </p:cNvSpPr>
          <p:nvPr/>
        </p:nvSpPr>
        <p:spPr>
          <a:xfrm xmlns:a="http://schemas.openxmlformats.org/drawingml/2006/main">
            <a:off x="819150" y="1123950"/>
            <a:ext cx="5429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项目主入口</a:t>
            </a:r>
          </a:p>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优化事项</a:t>
            </a:r>
          </a:p>
        </p:txBody>
      </p:sp>
      <p:sp>
        <p:nvSpPr>
          <p:cNvPr id="3" name="">
            <a:extLst xmlns:a="http://schemas.openxmlformats.org/drawingml/2006/main">
              <a:ext uri="{FF2B5EF4-FFF2-40B4-BE49-F238E27FC236}">
                <a16:creationId xmlns:a16="http://schemas.microsoft.com/office/drawing/2014/main" id="{FE9785FE-C287-42BD-BFDD-FB52AD1B6DE3}"/>
              </a:ext>
            </a:extLst>
          </p:cNvPr>
          <p:cNvSpPr>
            <a:spLocks xmlns:a="http://schemas.openxmlformats.org/drawingml/2006/main" noGrp="1"/>
          </p:cNvSpPr>
          <p:nvPr/>
        </p:nvSpPr>
        <p:spPr>
          <a:xfrm xmlns:a="http://schemas.openxmlformats.org/drawingml/2006/main">
            <a:off x="857250" y="3143250"/>
            <a:ext cx="447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A8895E"/>
                </a:solidFill>
                <a:latin typeface="Alibaba PuHuiTi 3.0"/>
                <a:ea typeface="Alibaba PuHuiTi 3.0"/>
                <a:cs typeface="Alibaba PuHuiTi 3.0"/>
              </a:defRPr>
            </a:pPr>
            <a:r>
              <a:rPr sz="2550" b="1">
                <a:solidFill>
                  <a:srgbClr val="A8895E"/>
                </a:solidFill>
                <a:latin typeface="Alibaba PuHuiTi 3.0"/>
                <a:ea typeface="Alibaba PuHuiTi 3.0"/>
                <a:cs typeface="Alibaba PuHuiTi 3.0"/>
              </a:rPr>
              <a:t>法律依据 · 业主沟通意见</a:t>
            </a:r>
          </a:p>
        </p:txBody>
      </p:sp>
      <p:sp>
        <p:nvSpPr>
          <p:cNvPr id="4" name="">
            <a:extLst xmlns:a="http://schemas.openxmlformats.org/drawingml/2006/main">
              <a:ext uri="{FF2B5EF4-FFF2-40B4-BE49-F238E27FC236}">
                <a16:creationId xmlns:a16="http://schemas.microsoft.com/office/drawing/2014/main" id="{BC8D77CF-42B5-42F8-977B-81DC41DEBAB2}"/>
              </a:ext>
            </a:extLst>
          </p:cNvPr>
          <p:cNvSpPr>
            <a:spLocks xmlns:a="http://schemas.openxmlformats.org/drawingml/2006/main" noGrp="1"/>
          </p:cNvSpPr>
          <p:nvPr/>
        </p:nvSpPr>
        <p:spPr>
          <a:xfrm xmlns:a="http://schemas.openxmlformats.org/drawingml/2006/main">
            <a:off x="857250" y="40100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526159"/>
                </a:solidFill>
                <a:latin typeface="Alibaba PuHuiTi 3.0"/>
                <a:ea typeface="Alibaba PuHuiTi 3.0"/>
                <a:cs typeface="Alibaba PuHuiTi 3.0"/>
              </a:defRPr>
            </a:pPr>
            <a:r>
              <a:rPr sz="1800" b="0">
                <a:solidFill>
                  <a:srgbClr val="526159"/>
                </a:solidFill>
                <a:latin typeface="Alibaba PuHuiTi 3.0"/>
                <a:ea typeface="Alibaba PuHuiTi 3.0"/>
                <a:cs typeface="Alibaba PuHuiTi 3.0"/>
              </a:rPr>
              <a:t>销售展示与后续优化的矛盾，有明确法律规则可循</a:t>
            </a:r>
          </a:p>
        </p:txBody>
      </p:sp>
      <p:sp>
        <p:nvSpPr>
          <p:cNvPr id="5" name="">
            <a:extLst xmlns:a="http://schemas.openxmlformats.org/drawingml/2006/main">
              <a:ext uri="{FF2B5EF4-FFF2-40B4-BE49-F238E27FC236}">
                <a16:creationId xmlns:a16="http://schemas.microsoft.com/office/drawing/2014/main" id="{5EF2E0B6-1E6F-484C-9C2F-4F4219290CBA}"/>
              </a:ext>
            </a:extLst>
          </p:cNvPr>
          <p:cNvSpPr>
            <a:spLocks xmlns:a="http://schemas.openxmlformats.org/drawingml/2006/main" noGrp="1"/>
          </p:cNvSpPr>
          <p:nvPr/>
        </p:nvSpPr>
        <p:spPr>
          <a:xfrm xmlns:a="http://schemas.openxmlformats.org/drawingml/2006/main">
            <a:off x="857250" y="59626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业主联合沟通材料  2026.10</a:t>
            </a:r>
          </a:p>
        </p:txBody>
      </p:sp>
    </p:spTree>
    <p:extLst>
      <p:ext uri="{BB962C8B-B14F-4D97-AF65-F5344CB8AC3E}">
        <p14:creationId xmlns:p14="http://schemas.microsoft.com/office/powerpoint/2010/main" val="1473434592"/>
      </p:ext>
    </p:extLst>
  </p:cSld>
</p:sld>
</file>

<file path=ppt/slides/slide2.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BD909E-410F-420C-A5F7-423E2FE1DCA7}"/>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01</a:t>
            </a:r>
          </a:p>
        </p:txBody>
      </p:sp>
      <p:sp>
        <p:nvSpPr>
          <p:cNvPr id="2" name="">
            <a:extLst xmlns:a="http://schemas.openxmlformats.org/drawingml/2006/main">
              <a:ext uri="{FF2B5EF4-FFF2-40B4-BE49-F238E27FC236}">
                <a16:creationId xmlns:a16="http://schemas.microsoft.com/office/drawing/2014/main" id="{7B6876D9-E812-40DD-A11B-F595C2461F5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入口体验</a:t>
            </a:r>
          </a:p>
        </p:txBody>
      </p:sp>
      <p:sp>
        <p:nvSpPr>
          <p:cNvPr id="3" name="">
            <a:extLst xmlns:a="http://schemas.openxmlformats.org/drawingml/2006/main">
              <a:ext uri="{FF2B5EF4-FFF2-40B4-BE49-F238E27FC236}">
                <a16:creationId xmlns:a16="http://schemas.microsoft.com/office/drawing/2014/main" id="{D14261C8-52AB-48A7-ACE8-7499B680FEEC}"/>
              </a:ext>
            </a:extLst>
          </p:cNvPr>
          <p:cNvSpPr>
            <a:spLocks xmlns:a="http://schemas.openxmlformats.org/drawingml/2006/main" noGrp="1"/>
          </p:cNvSpPr>
          <p:nvPr/>
        </p:nvSpPr>
        <p:spPr>
          <a:xfrm xmlns:a="http://schemas.openxmlformats.org/drawingml/2006/main">
            <a:off x="1047750" y="2038350"/>
            <a:ext cx="9810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300" b="1">
                <a:solidFill>
                  <a:srgbClr val="FFFFFF"/>
                </a:solidFill>
                <a:latin typeface="Alibaba PuHuiTi 3.0"/>
                <a:ea typeface="Alibaba PuHuiTi 3.0"/>
                <a:cs typeface="Alibaba PuHuiTi 3.0"/>
              </a:defRPr>
            </a:pPr>
            <a:r>
              <a:rPr sz="3300" b="1">
                <a:solidFill>
                  <a:srgbClr val="FFFFFF"/>
                </a:solidFill>
                <a:latin typeface="Alibaba PuHuiTi 3.0"/>
                <a:ea typeface="Alibaba PuHuiTi 3.0"/>
                <a:cs typeface="Alibaba PuHuiTi 3.0"/>
              </a:rPr>
              <a:t>销售展示中的外延台阶，让入口与街道之间有了过渡，也形成更从容的归家尺度。</a:t>
            </a:r>
          </a:p>
        </p:txBody>
      </p:sp>
      <p:sp>
        <p:nvSpPr>
          <p:cNvPr id="4" name="">
            <a:extLst xmlns:a="http://schemas.openxmlformats.org/drawingml/2006/main">
              <a:ext uri="{FF2B5EF4-FFF2-40B4-BE49-F238E27FC236}">
                <a16:creationId xmlns:a16="http://schemas.microsoft.com/office/drawing/2014/main" id="{C887D6D8-437E-434C-928C-3FA1D6FE1AD0}"/>
              </a:ext>
            </a:extLst>
          </p:cNvPr>
          <p:cNvSpPr>
            <a:spLocks xmlns:a="http://schemas.openxmlformats.org/drawingml/2006/main" noGrp="1"/>
          </p:cNvSpPr>
          <p:nvPr/>
        </p:nvSpPr>
        <p:spPr>
          <a:xfrm xmlns:a="http://schemas.openxmlformats.org/drawingml/2006/main">
            <a:off x="2095500" y="4000500"/>
            <a:ext cx="800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025" b="0">
                <a:solidFill>
                  <a:srgbClr val="D8CCB8"/>
                </a:solidFill>
                <a:latin typeface="Alibaba PuHuiTi 3.0"/>
                <a:ea typeface="Alibaba PuHuiTi 3.0"/>
                <a:cs typeface="Alibaba PuHuiTi 3.0"/>
              </a:defRPr>
            </a:pPr>
            <a:r>
              <a:rPr sz="2025" b="0">
                <a:solidFill>
                  <a:srgbClr val="D8CCB8"/>
                </a:solidFill>
                <a:latin typeface="Alibaba PuHuiTi 3.0"/>
                <a:ea typeface="Alibaba PuHuiTi 3.0"/>
                <a:cs typeface="Alibaba PuHuiTi 3.0"/>
              </a:rPr>
              <a:t>后续优化方式和最终效果尚未明确，入口空间层次与整体质感可能受到影响。</a:t>
            </a:r>
          </a:p>
        </p:txBody>
      </p:sp>
      <p:sp>
        <p:nvSpPr>
          <p:cNvPr id="5" name="">
            <a:extLst xmlns:a="http://schemas.openxmlformats.org/drawingml/2006/main">
              <a:ext uri="{FF2B5EF4-FFF2-40B4-BE49-F238E27FC236}">
                <a16:creationId xmlns:a16="http://schemas.microsoft.com/office/drawing/2014/main" id="{7995069E-9BA8-4E2C-A3B6-98740FCE88BF}"/>
              </a:ext>
            </a:extLst>
          </p:cNvPr>
          <p:cNvSpPr>
            <a:spLocks xmlns:a="http://schemas.openxmlformats.org/drawingml/2006/main" noGrp="1"/>
          </p:cNvSpPr>
          <p:nvPr/>
        </p:nvSpPr>
        <p:spPr>
          <a:xfrm xmlns:a="http://schemas.openxmlformats.org/drawingml/2006/main">
            <a:off x="2476500" y="51435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0">
                <a:solidFill>
                  <a:srgbClr val="D9DED9"/>
                </a:solidFill>
                <a:latin typeface="Alibaba PuHuiTi 3.0"/>
                <a:ea typeface="Alibaba PuHuiTi 3.0"/>
                <a:cs typeface="Alibaba PuHuiTi 3.0"/>
              </a:defRPr>
            </a:pPr>
            <a:r>
              <a:rPr sz="1575" b="0">
                <a:solidFill>
                  <a:srgbClr val="D9DED9"/>
                </a:solidFill>
                <a:latin typeface="Alibaba PuHuiTi 3.0"/>
                <a:ea typeface="Alibaba PuHuiTi 3.0"/>
                <a:cs typeface="Alibaba PuHuiTi 3.0"/>
              </a:rPr>
              <a:t>开发商应说明优化范围、方式和最终效果，并提出明确的入口品质补救方案。</a:t>
            </a:r>
          </a:p>
        </p:txBody>
      </p:sp>
      <p:sp>
        <p:nvSpPr>
          <p:cNvPr id="6" name="">
            <a:extLst xmlns:a="http://schemas.openxmlformats.org/drawingml/2006/main">
              <a:ext uri="{FF2B5EF4-FFF2-40B4-BE49-F238E27FC236}">
                <a16:creationId xmlns:a16="http://schemas.microsoft.com/office/drawing/2014/main" id="{11456A08-18FF-47CF-B553-5F85E623ECA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项目主入口优化事项  02</a:t>
            </a:r>
          </a:p>
        </p:txBody>
      </p:sp>
    </p:spTree>
    <p:extLst>
      <p:ext uri="{BB962C8B-B14F-4D97-AF65-F5344CB8AC3E}">
        <p14:creationId xmlns:p14="http://schemas.microsoft.com/office/powerpoint/2010/main" val="416751091"/>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70EA65-B972-4AEC-B367-F3493D37A10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02</a:t>
            </a:r>
          </a:p>
        </p:txBody>
      </p:sp>
      <p:sp>
        <p:nvSpPr>
          <p:cNvPr id="2" name="">
            <a:extLst xmlns:a="http://schemas.openxmlformats.org/drawingml/2006/main">
              <a:ext uri="{FF2B5EF4-FFF2-40B4-BE49-F238E27FC236}">
                <a16:creationId xmlns:a16="http://schemas.microsoft.com/office/drawing/2014/main" id="{9FAD9DAB-1995-4CC6-82DB-CE693501295F}"/>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后续优化可能涉及的入口位置</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410ae782042a45c1"/>
          <a:stretch xmlns:a="http://schemas.openxmlformats.org/drawingml/2006/main"/>
        </p:blipFill>
        <p:spPr>
          <a:xfrm xmlns:a="http://schemas.openxmlformats.org/drawingml/2006/main">
            <a:off x="1643640" y="1619250"/>
            <a:ext cx="5980545" cy="4381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F22EB0F-FBB8-4C62-8330-5702DD2B5A34}"/>
              </a:ext>
            </a:extLst>
          </p:cNvPr>
          <p:cNvSpPr>
            <a:spLocks xmlns:a="http://schemas.openxmlformats.org/drawingml/2006/main" noGrp="1"/>
          </p:cNvSpPr>
          <p:nvPr/>
        </p:nvSpPr>
        <p:spPr>
          <a:xfrm xmlns:a="http://schemas.openxmlformats.org/drawingml/2006/main">
            <a:off x="9096375" y="2047875"/>
            <a:ext cx="2381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202824"/>
                </a:solidFill>
                <a:latin typeface="Alibaba PuHuiTi 3.0"/>
                <a:ea typeface="Alibaba PuHuiTi 3.0"/>
                <a:cs typeface="Alibaba PuHuiTi 3.0"/>
              </a:defRPr>
            </a:pPr>
            <a:r>
              <a:rPr sz="2175" b="1">
                <a:solidFill>
                  <a:srgbClr val="202824"/>
                </a:solidFill>
                <a:latin typeface="Alibaba PuHuiTi 3.0"/>
                <a:ea typeface="Alibaba PuHuiTi 3.0"/>
                <a:cs typeface="Alibaba PuHuiTi 3.0"/>
              </a:rPr>
              <a:t>据目前告知，后续优化可能涉及规划道路一侧的入口。</a:t>
            </a:r>
          </a:p>
        </p:txBody>
      </p:sp>
      <p:sp>
        <p:nvSpPr>
          <p:cNvPr id="5" name="">
            <a:extLst xmlns:a="http://schemas.openxmlformats.org/drawingml/2006/main">
              <a:ext uri="{FF2B5EF4-FFF2-40B4-BE49-F238E27FC236}">
                <a16:creationId xmlns:a16="http://schemas.microsoft.com/office/drawing/2014/main" id="{3C8B55C0-887B-4775-A1F2-234C580AE3CF}"/>
              </a:ext>
            </a:extLst>
          </p:cNvPr>
          <p:cNvSpPr>
            <a:spLocks xmlns:a="http://schemas.openxmlformats.org/drawingml/2006/main" noGrp="1"/>
          </p:cNvSpPr>
          <p:nvPr/>
        </p:nvSpPr>
        <p:spPr>
          <a:xfrm xmlns:a="http://schemas.openxmlformats.org/drawingml/2006/main">
            <a:off x="9096375" y="3524250"/>
            <a:ext cx="2333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526159"/>
                </a:solidFill>
                <a:latin typeface="Alibaba PuHuiTi 3.0"/>
                <a:ea typeface="Alibaba PuHuiTi 3.0"/>
                <a:cs typeface="Alibaba PuHuiTi 3.0"/>
              </a:defRPr>
            </a:pPr>
            <a:r>
              <a:rPr sz="1500" b="0">
                <a:solidFill>
                  <a:srgbClr val="526159"/>
                </a:solidFill>
                <a:latin typeface="Alibaba PuHuiTi 3.0"/>
                <a:ea typeface="Alibaba PuHuiTi 3.0"/>
                <a:cs typeface="Alibaba PuHuiTi 3.0"/>
              </a:rPr>
              <a:t>红圈与箭头为业主标注，仅指示当前沟通位置。</a:t>
            </a:r>
          </a:p>
        </p:txBody>
      </p:sp>
      <p:sp>
        <p:nvSpPr>
          <p:cNvPr id="6" name="">
            <a:extLst xmlns:a="http://schemas.openxmlformats.org/drawingml/2006/main">
              <a:ext uri="{FF2B5EF4-FFF2-40B4-BE49-F238E27FC236}">
                <a16:creationId xmlns:a16="http://schemas.microsoft.com/office/drawing/2014/main" id="{74013F13-F6F2-46BD-BBF3-A8300250CC32}"/>
              </a:ext>
            </a:extLst>
          </p:cNvPr>
          <p:cNvSpPr>
            <a:spLocks xmlns:a="http://schemas.openxmlformats.org/drawingml/2006/main" noGrp="1"/>
          </p:cNvSpPr>
          <p:nvPr/>
        </p:nvSpPr>
        <p:spPr>
          <a:xfrm xmlns:a="http://schemas.openxmlformats.org/drawingml/2006/main">
            <a:off x="9096375" y="5029200"/>
            <a:ext cx="2333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A8895E"/>
                </a:solidFill>
                <a:latin typeface="Alibaba PuHuiTi 3.0"/>
                <a:ea typeface="Alibaba PuHuiTi 3.0"/>
                <a:cs typeface="Alibaba PuHuiTi 3.0"/>
              </a:defRPr>
            </a:pPr>
            <a:r>
              <a:rPr sz="1350" b="0">
                <a:solidFill>
                  <a:srgbClr val="A8895E"/>
                </a:solidFill>
                <a:latin typeface="Alibaba PuHuiTi 3.0"/>
                <a:ea typeface="Alibaba PuHuiTi 3.0"/>
                <a:cs typeface="Alibaba PuHuiTi 3.0"/>
              </a:rPr>
              <a:t>优化范围、边界及实施方式，以开发商书面方案及相关审批为准。</a:t>
            </a:r>
          </a:p>
        </p:txBody>
      </p:sp>
      <p:sp>
        <p:nvSpPr>
          <p:cNvPr id="7" name="">
            <a:extLst xmlns:a="http://schemas.openxmlformats.org/drawingml/2006/main">
              <a:ext uri="{FF2B5EF4-FFF2-40B4-BE49-F238E27FC236}">
                <a16:creationId xmlns:a16="http://schemas.microsoft.com/office/drawing/2014/main" id="{AF7D4C06-FBD4-476D-B539-1516B84B966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项目主入口优化事项  03</a:t>
            </a:r>
          </a:p>
        </p:txBody>
      </p:sp>
    </p:spTree>
    <p:extLst>
      <p:ext uri="{BB962C8B-B14F-4D97-AF65-F5344CB8AC3E}">
        <p14:creationId xmlns:p14="http://schemas.microsoft.com/office/powerpoint/2010/main" val="767455429"/>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FCC7798-CB13-416D-92FF-1DB5BD494134}"/>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03</a:t>
            </a:r>
          </a:p>
        </p:txBody>
      </p:sp>
      <p:sp>
        <p:nvSpPr>
          <p:cNvPr id="2" name="">
            <a:extLst xmlns:a="http://schemas.openxmlformats.org/drawingml/2006/main">
              <a:ext uri="{FF2B5EF4-FFF2-40B4-BE49-F238E27FC236}">
                <a16:creationId xmlns:a16="http://schemas.microsoft.com/office/drawing/2014/main" id="{2AB2F6C7-CED8-47C3-964F-5C0027780CD8}"/>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销售沙盘展示与目前大门方案明显不一致</a:t>
            </a:r>
          </a:p>
        </p:txBody>
      </p:sp>
      <p:sp>
        <p:nvSpPr>
          <p:cNvPr id="3" name="">
            <a:extLst xmlns:a="http://schemas.openxmlformats.org/drawingml/2006/main">
              <a:ext uri="{FF2B5EF4-FFF2-40B4-BE49-F238E27FC236}">
                <a16:creationId xmlns:a16="http://schemas.microsoft.com/office/drawing/2014/main" id="{41319FF9-97DF-44B0-9BEB-859943A1CDA4}"/>
              </a:ext>
            </a:extLst>
          </p:cNvPr>
          <p:cNvSpPr>
            <a:spLocks xmlns:a="http://schemas.openxmlformats.org/drawingml/2006/main" noGrp="1"/>
          </p:cNvSpPr>
          <p:nvPr/>
        </p:nvSpPr>
        <p:spPr>
          <a:xfrm xmlns:a="http://schemas.openxmlformats.org/drawingml/2006/main">
            <a:off x="781050" y="1504950"/>
            <a:ext cx="647700" cy="38100"/>
          </a:xfrm>
          <a:prstGeom xmlns:a="http://schemas.openxmlformats.org/drawingml/2006/main" prst="rect">
            <a:avLst/>
          </a:prstGeom>
          <a:solidFill xmlns:a="http://schemas.openxmlformats.org/drawingml/2006/main">
            <a:srgbClr val="9D4B4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4F038F9-24BC-4F5A-8A31-A2BC76EE2A54}"/>
              </a:ext>
            </a:extLst>
          </p:cNvPr>
          <p:cNvSpPr>
            <a:spLocks xmlns:a="http://schemas.openxmlformats.org/drawingml/2006/main" noGrp="1"/>
          </p:cNvSpPr>
          <p:nvPr/>
        </p:nvSpPr>
        <p:spPr>
          <a:xfrm xmlns:a="http://schemas.openxmlformats.org/drawingml/2006/main">
            <a:off x="781050" y="1685925"/>
            <a:ext cx="5143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销售沙盘（业主拍摄）</a:t>
            </a:r>
          </a:p>
        </p:txBody>
      </p:sp>
      <p:sp>
        <p:nvSpPr>
          <p:cNvPr id="5" name="">
            <a:extLst xmlns:a="http://schemas.openxmlformats.org/drawingml/2006/main">
              <a:ext uri="{FF2B5EF4-FFF2-40B4-BE49-F238E27FC236}">
                <a16:creationId xmlns:a16="http://schemas.microsoft.com/office/drawing/2014/main" id="{961901D6-673C-421F-A169-A6DC4A2FFD0F}"/>
              </a:ext>
            </a:extLst>
          </p:cNvPr>
          <p:cNvSpPr>
            <a:spLocks xmlns:a="http://schemas.openxmlformats.org/drawingml/2006/main" noGrp="1"/>
          </p:cNvSpPr>
          <p:nvPr/>
        </p:nvSpPr>
        <p:spPr>
          <a:xfrm xmlns:a="http://schemas.openxmlformats.org/drawingml/2006/main">
            <a:off x="6257925" y="1685925"/>
            <a:ext cx="5143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目前大门方案（业主提供）</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db45bf96e964487f"/>
          <a:srcRect xmlns:a="http://schemas.openxmlformats.org/drawingml/2006/main" l="2000" t="34000" r="43000" b="5000"/>
          <a:stretch xmlns:a="http://schemas.openxmlformats.org/drawingml/2006/main"/>
        </p:blipFill>
        <p:spPr>
          <a:xfrm xmlns:a="http://schemas.openxmlformats.org/drawingml/2006/main">
            <a:off x="781050" y="2000250"/>
            <a:ext cx="5143500" cy="2857500"/>
          </a:xfrm>
          <a:prstGeom xmlns:a="http://schemas.openxmlformats.org/drawingml/2006/main" prst="rect">
            <a:avLst/>
          </a:prstGeom>
        </p:spPr>
      </p:pic>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88bf442d35d4f95"/>
          <a:srcRect xmlns:a="http://schemas.openxmlformats.org/drawingml/2006/main" l="14125" t="0" r="14125" b="0"/>
          <a:stretch xmlns:a="http://schemas.openxmlformats.org/drawingml/2006/main">
            <a:fillRect l="0" t="0" r="0" b="0"/>
          </a:stretch>
        </p:blipFill>
        <p:spPr>
          <a:xfrm xmlns:a="http://schemas.openxmlformats.org/drawingml/2006/main">
            <a:off x="6257925" y="2000250"/>
            <a:ext cx="5143500" cy="2857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674A99C8-A287-4840-ABC9-8FDDCE9E2931}"/>
              </a:ext>
            </a:extLst>
          </p:cNvPr>
          <p:cNvSpPr>
            <a:spLocks xmlns:a="http://schemas.openxmlformats.org/drawingml/2006/main" noGrp="1"/>
          </p:cNvSpPr>
          <p:nvPr/>
        </p:nvSpPr>
        <p:spPr>
          <a:xfrm xmlns:a="http://schemas.openxmlformats.org/drawingml/2006/main">
            <a:off x="781050" y="2000250"/>
            <a:ext cx="5143500" cy="2857500"/>
          </a:xfrm>
          <a:prstGeom xmlns:a="http://schemas.openxmlformats.org/drawingml/2006/main" prst="rect">
            <a:avLst/>
          </a:prstGeom>
          <a:noFill xmlns:a="http://schemas.openxmlformats.org/drawingml/2006/main"/>
          <a:ln xmlns:a="http://schemas.openxmlformats.org/drawingml/2006/main" w="9525">
            <a:solidFill>
              <a:srgbClr val="D9D2C7"/>
            </a:solidFill>
          </a:ln>
        </p:spPr>
      </p:sp>
      <p:sp>
        <p:nvSpPr>
          <p:cNvPr id="9" name="">
            <a:extLst xmlns:a="http://schemas.openxmlformats.org/drawingml/2006/main">
              <a:ext uri="{FF2B5EF4-FFF2-40B4-BE49-F238E27FC236}">
                <a16:creationId xmlns:a16="http://schemas.microsoft.com/office/drawing/2014/main" id="{733E04F2-13B3-4717-B48D-F329902B9430}"/>
              </a:ext>
            </a:extLst>
          </p:cNvPr>
          <p:cNvSpPr>
            <a:spLocks xmlns:a="http://schemas.openxmlformats.org/drawingml/2006/main" noGrp="1"/>
          </p:cNvSpPr>
          <p:nvPr/>
        </p:nvSpPr>
        <p:spPr>
          <a:xfrm xmlns:a="http://schemas.openxmlformats.org/drawingml/2006/main">
            <a:off x="6257925" y="2000250"/>
            <a:ext cx="5143500" cy="2857500"/>
          </a:xfrm>
          <a:prstGeom xmlns:a="http://schemas.openxmlformats.org/drawingml/2006/main" prst="rect">
            <a:avLst/>
          </a:prstGeom>
          <a:noFill xmlns:a="http://schemas.openxmlformats.org/drawingml/2006/main"/>
          <a:ln xmlns:a="http://schemas.openxmlformats.org/drawingml/2006/main" w="9525">
            <a:solidFill>
              <a:srgbClr val="D9D2C7"/>
            </a:solidFill>
          </a:ln>
        </p:spPr>
      </p:sp>
      <p:sp>
        <p:nvSpPr>
          <p:cNvPr id="10" name="">
            <a:extLst xmlns:a="http://schemas.openxmlformats.org/drawingml/2006/main">
              <a:ext uri="{FF2B5EF4-FFF2-40B4-BE49-F238E27FC236}">
                <a16:creationId xmlns:a16="http://schemas.microsoft.com/office/drawing/2014/main" id="{D173CEB0-5D81-4187-B288-929CFDBD1768}"/>
              </a:ext>
            </a:extLst>
          </p:cNvPr>
          <p:cNvSpPr>
            <a:spLocks xmlns:a="http://schemas.openxmlformats.org/drawingml/2006/main" noGrp="1"/>
          </p:cNvSpPr>
          <p:nvPr/>
        </p:nvSpPr>
        <p:spPr>
          <a:xfrm xmlns:a="http://schemas.openxmlformats.org/drawingml/2006/main">
            <a:off x="781050" y="4972050"/>
            <a:ext cx="514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202824"/>
                </a:solidFill>
                <a:latin typeface="Alibaba PuHuiTi 3.0"/>
                <a:ea typeface="Alibaba PuHuiTi 3.0"/>
                <a:cs typeface="Alibaba PuHuiTi 3.0"/>
              </a:defRPr>
            </a:pPr>
            <a:r>
              <a:rPr sz="1500" b="1">
                <a:solidFill>
                  <a:srgbClr val="202824"/>
                </a:solidFill>
                <a:latin typeface="Alibaba PuHuiTi 3.0"/>
                <a:ea typeface="Alibaba PuHuiTi 3.0"/>
                <a:cs typeface="Alibaba PuHuiTi 3.0"/>
              </a:rPr>
              <a:t>沙盘：临街入口以突出门廊组织空间</a:t>
            </a:r>
          </a:p>
        </p:txBody>
      </p:sp>
      <p:sp>
        <p:nvSpPr>
          <p:cNvPr id="11" name="">
            <a:extLst xmlns:a="http://schemas.openxmlformats.org/drawingml/2006/main">
              <a:ext uri="{FF2B5EF4-FFF2-40B4-BE49-F238E27FC236}">
                <a16:creationId xmlns:a16="http://schemas.microsoft.com/office/drawing/2014/main" id="{D0482B7A-5133-461A-B242-37402AECE31E}"/>
              </a:ext>
            </a:extLst>
          </p:cNvPr>
          <p:cNvSpPr>
            <a:spLocks xmlns:a="http://schemas.openxmlformats.org/drawingml/2006/main" noGrp="1"/>
          </p:cNvSpPr>
          <p:nvPr/>
        </p:nvSpPr>
        <p:spPr>
          <a:xfrm xmlns:a="http://schemas.openxmlformats.org/drawingml/2006/main">
            <a:off x="6257925" y="4972050"/>
            <a:ext cx="514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202824"/>
                </a:solidFill>
                <a:latin typeface="Alibaba PuHuiTi 3.0"/>
                <a:ea typeface="Alibaba PuHuiTi 3.0"/>
                <a:cs typeface="Alibaba PuHuiTi 3.0"/>
              </a:defRPr>
            </a:pPr>
            <a:r>
              <a:rPr sz="1500" b="1">
                <a:solidFill>
                  <a:srgbClr val="202824"/>
                </a:solidFill>
                <a:latin typeface="Alibaba PuHuiTi 3.0"/>
                <a:ea typeface="Alibaba PuHuiTi 3.0"/>
                <a:cs typeface="Alibaba PuHuiTi 3.0"/>
              </a:rPr>
              <a:t>目前方案：入口体量、台阶与绿化重新组织</a:t>
            </a:r>
          </a:p>
        </p:txBody>
      </p:sp>
      <p:sp>
        <p:nvSpPr>
          <p:cNvPr id="12" name="">
            <a:extLst xmlns:a="http://schemas.openxmlformats.org/drawingml/2006/main">
              <a:ext uri="{FF2B5EF4-FFF2-40B4-BE49-F238E27FC236}">
                <a16:creationId xmlns:a16="http://schemas.microsoft.com/office/drawing/2014/main" id="{E9A6B3EF-3276-4C47-B426-DB8BB3C8C297}"/>
              </a:ext>
            </a:extLst>
          </p:cNvPr>
          <p:cNvSpPr>
            <a:spLocks xmlns:a="http://schemas.openxmlformats.org/drawingml/2006/main" noGrp="1"/>
          </p:cNvSpPr>
          <p:nvPr/>
        </p:nvSpPr>
        <p:spPr>
          <a:xfrm xmlns:a="http://schemas.openxmlformats.org/drawingml/2006/main">
            <a:off x="781050" y="5457825"/>
            <a:ext cx="76200" cy="733425"/>
          </a:xfrm>
          <a:prstGeom xmlns:a="http://schemas.openxmlformats.org/drawingml/2006/main" prst="rect">
            <a:avLst/>
          </a:prstGeom>
          <a:solidFill xmlns:a="http://schemas.openxmlformats.org/drawingml/2006/main">
            <a:srgbClr val="9D4B4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33AD1AC-6B8A-45E0-8BA5-6E46A382252E}"/>
              </a:ext>
            </a:extLst>
          </p:cNvPr>
          <p:cNvSpPr>
            <a:spLocks xmlns:a="http://schemas.openxmlformats.org/drawingml/2006/main" noGrp="1"/>
          </p:cNvSpPr>
          <p:nvPr/>
        </p:nvSpPr>
        <p:spPr>
          <a:xfrm xmlns:a="http://schemas.openxmlformats.org/drawingml/2006/main">
            <a:off x="1028700" y="5429250"/>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9D4B40"/>
                </a:solidFill>
                <a:latin typeface="Alibaba PuHuiTi 3.0"/>
                <a:ea typeface="Alibaba PuHuiTi 3.0"/>
                <a:cs typeface="Alibaba PuHuiTi 3.0"/>
              </a:defRPr>
            </a:pPr>
            <a:r>
              <a:rPr sz="1275" b="1">
                <a:solidFill>
                  <a:srgbClr val="9D4B40"/>
                </a:solidFill>
                <a:latin typeface="Alibaba PuHuiTi 3.0"/>
                <a:ea typeface="Alibaba PuHuiTi 3.0"/>
                <a:cs typeface="Alibaba PuHuiTi 3.0"/>
              </a:rPr>
              <a:t>对比结论</a:t>
            </a:r>
          </a:p>
        </p:txBody>
      </p:sp>
      <p:sp>
        <p:nvSpPr>
          <p:cNvPr id="14" name="">
            <a:extLst xmlns:a="http://schemas.openxmlformats.org/drawingml/2006/main">
              <a:ext uri="{FF2B5EF4-FFF2-40B4-BE49-F238E27FC236}">
                <a16:creationId xmlns:a16="http://schemas.microsoft.com/office/drawing/2014/main" id="{9920A8A0-945A-4A20-9A7C-2A6E8BF8003A}"/>
              </a:ext>
            </a:extLst>
          </p:cNvPr>
          <p:cNvSpPr>
            <a:spLocks xmlns:a="http://schemas.openxmlformats.org/drawingml/2006/main" noGrp="1"/>
          </p:cNvSpPr>
          <p:nvPr/>
        </p:nvSpPr>
        <p:spPr>
          <a:xfrm xmlns:a="http://schemas.openxmlformats.org/drawingml/2006/main">
            <a:off x="1028700" y="5695950"/>
            <a:ext cx="103727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1">
                <a:solidFill>
                  <a:srgbClr val="202824"/>
                </a:solidFill>
                <a:latin typeface="Alibaba PuHuiTi 3.0"/>
                <a:ea typeface="Alibaba PuHuiTi 3.0"/>
                <a:cs typeface="Alibaba PuHuiTi 3.0"/>
              </a:defRPr>
            </a:pPr>
            <a:r>
              <a:rPr sz="1650" b="1">
                <a:solidFill>
                  <a:srgbClr val="202824"/>
                </a:solidFill>
                <a:latin typeface="Alibaba PuHuiTi 3.0"/>
                <a:ea typeface="Alibaba PuHuiTi 3.0"/>
                <a:cs typeface="Alibaba PuHuiTi 3.0"/>
              </a:rPr>
              <a:t>两图视角不同，但入口形态、雨棚与台阶尺度、景观组织已呈现明显差异。</a:t>
            </a:r>
          </a:p>
        </p:txBody>
      </p:sp>
      <p:sp>
        <p:nvSpPr>
          <p:cNvPr id="15" name="">
            <a:extLst xmlns:a="http://schemas.openxmlformats.org/drawingml/2006/main">
              <a:ext uri="{FF2B5EF4-FFF2-40B4-BE49-F238E27FC236}">
                <a16:creationId xmlns:a16="http://schemas.microsoft.com/office/drawing/2014/main" id="{5B8D5B10-F354-453C-A9D8-13D63E1433AA}"/>
              </a:ext>
            </a:extLst>
          </p:cNvPr>
          <p:cNvSpPr>
            <a:spLocks xmlns:a="http://schemas.openxmlformats.org/drawingml/2006/main" noGrp="1"/>
          </p:cNvSpPr>
          <p:nvPr/>
        </p:nvSpPr>
        <p:spPr>
          <a:xfrm xmlns:a="http://schemas.openxmlformats.org/drawingml/2006/main">
            <a:off x="1028700" y="6010275"/>
            <a:ext cx="103727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请开发商提供方案版本、变更时间和审批依据，并说明销售阶段是否已明确告知。</a:t>
            </a:r>
          </a:p>
        </p:txBody>
      </p:sp>
      <p:sp>
        <p:nvSpPr>
          <p:cNvPr id="16" name="">
            <a:extLst xmlns:a="http://schemas.openxmlformats.org/drawingml/2006/main">
              <a:ext uri="{FF2B5EF4-FFF2-40B4-BE49-F238E27FC236}">
                <a16:creationId xmlns:a16="http://schemas.microsoft.com/office/drawing/2014/main" id="{352CA31E-30D6-4449-B11F-C75E3AFD661C}"/>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项目主入口优化事项  04</a:t>
            </a:r>
          </a:p>
        </p:txBody>
      </p:sp>
    </p:spTree>
    <p:extLst>
      <p:ext uri="{BB962C8B-B14F-4D97-AF65-F5344CB8AC3E}">
        <p14:creationId xmlns:p14="http://schemas.microsoft.com/office/powerpoint/2010/main" val="1051361721"/>
      </p:ext>
    </p:extLst>
  </p:cSld>
</p:sld>
</file>

<file path=ppt/slides/slide5.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DEB7EC-D9F2-4BCB-801F-520B67DF7DBC}"/>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04</a:t>
            </a:r>
          </a:p>
        </p:txBody>
      </p:sp>
      <p:sp>
        <p:nvSpPr>
          <p:cNvPr id="2" name="">
            <a:extLst xmlns:a="http://schemas.openxmlformats.org/drawingml/2006/main">
              <a:ext uri="{FF2B5EF4-FFF2-40B4-BE49-F238E27FC236}">
                <a16:creationId xmlns:a16="http://schemas.microsoft.com/office/drawing/2014/main" id="{4CF71F2E-75F7-43DD-B402-D89B20AA6CE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销售展示与后续优化的矛盾，有法可依</a:t>
            </a:r>
          </a:p>
        </p:txBody>
      </p:sp>
      <p:sp>
        <p:nvSpPr>
          <p:cNvPr id="3" name="">
            <a:extLst xmlns:a="http://schemas.openxmlformats.org/drawingml/2006/main">
              <a:ext uri="{FF2B5EF4-FFF2-40B4-BE49-F238E27FC236}">
                <a16:creationId xmlns:a16="http://schemas.microsoft.com/office/drawing/2014/main" id="{6ED8D6D4-C6B7-4D4B-97A6-2C98203E9F06}"/>
              </a:ext>
            </a:extLst>
          </p:cNvPr>
          <p:cNvSpPr>
            <a:spLocks xmlns:a="http://schemas.openxmlformats.org/drawingml/2006/main" noGrp="1"/>
          </p:cNvSpPr>
          <p:nvPr/>
        </p:nvSpPr>
        <p:spPr>
          <a:xfrm xmlns:a="http://schemas.openxmlformats.org/drawingml/2006/main">
            <a:off x="1047750" y="195262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01</a:t>
            </a:r>
          </a:p>
        </p:txBody>
      </p:sp>
      <p:sp>
        <p:nvSpPr>
          <p:cNvPr id="4" name="">
            <a:extLst xmlns:a="http://schemas.openxmlformats.org/drawingml/2006/main">
              <a:ext uri="{FF2B5EF4-FFF2-40B4-BE49-F238E27FC236}">
                <a16:creationId xmlns:a16="http://schemas.microsoft.com/office/drawing/2014/main" id="{D51C5FF4-0BCD-4249-8EAF-859E76E49D37}"/>
              </a:ext>
            </a:extLst>
          </p:cNvPr>
          <p:cNvSpPr>
            <a:spLocks xmlns:a="http://schemas.openxmlformats.org/drawingml/2006/main" noGrp="1"/>
          </p:cNvSpPr>
          <p:nvPr/>
        </p:nvSpPr>
        <p:spPr>
          <a:xfrm xmlns:a="http://schemas.openxmlformats.org/drawingml/2006/main">
            <a:off x="2095500" y="195262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销售展示与后续优化出现矛盾</a:t>
            </a:r>
          </a:p>
        </p:txBody>
      </p:sp>
      <p:sp>
        <p:nvSpPr>
          <p:cNvPr id="5" name="">
            <a:extLst xmlns:a="http://schemas.openxmlformats.org/drawingml/2006/main">
              <a:ext uri="{FF2B5EF4-FFF2-40B4-BE49-F238E27FC236}">
                <a16:creationId xmlns:a16="http://schemas.microsoft.com/office/drawing/2014/main" id="{0BA6B6BE-C980-453F-B564-1FD60FD4DAD9}"/>
              </a:ext>
            </a:extLst>
          </p:cNvPr>
          <p:cNvSpPr>
            <a:spLocks xmlns:a="http://schemas.openxmlformats.org/drawingml/2006/main" noGrp="1"/>
          </p:cNvSpPr>
          <p:nvPr/>
        </p:nvSpPr>
        <p:spPr>
          <a:xfrm xmlns:a="http://schemas.openxmlformats.org/drawingml/2006/main">
            <a:off x="2095500" y="2571750"/>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购房时展示方案包含外延台阶。开发商后续称该区域涉及市政道路红线并需优化，但具体方案和最终效果尚未明确。</a:t>
            </a:r>
          </a:p>
        </p:txBody>
      </p:sp>
      <p:sp>
        <p:nvSpPr>
          <p:cNvPr id="6" name="">
            <a:extLst xmlns:a="http://schemas.openxmlformats.org/drawingml/2006/main">
              <a:ext uri="{FF2B5EF4-FFF2-40B4-BE49-F238E27FC236}">
                <a16:creationId xmlns:a16="http://schemas.microsoft.com/office/drawing/2014/main" id="{F6E5E8B8-11BE-4FC8-9483-89CEA6311346}"/>
              </a:ext>
            </a:extLst>
          </p:cNvPr>
          <p:cNvSpPr>
            <a:spLocks xmlns:a="http://schemas.openxmlformats.org/drawingml/2006/main" noGrp="1"/>
          </p:cNvSpPr>
          <p:nvPr/>
        </p:nvSpPr>
        <p:spPr>
          <a:xfrm xmlns:a="http://schemas.openxmlformats.org/drawingml/2006/main">
            <a:off x="1047750" y="3333750"/>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02</a:t>
            </a:r>
          </a:p>
        </p:txBody>
      </p:sp>
      <p:sp>
        <p:nvSpPr>
          <p:cNvPr id="7" name="">
            <a:extLst xmlns:a="http://schemas.openxmlformats.org/drawingml/2006/main">
              <a:ext uri="{FF2B5EF4-FFF2-40B4-BE49-F238E27FC236}">
                <a16:creationId xmlns:a16="http://schemas.microsoft.com/office/drawing/2014/main" id="{53530DFB-B0EF-41E7-9847-ABE3BAD081F8}"/>
              </a:ext>
            </a:extLst>
          </p:cNvPr>
          <p:cNvSpPr>
            <a:spLocks xmlns:a="http://schemas.openxmlformats.org/drawingml/2006/main" noGrp="1"/>
          </p:cNvSpPr>
          <p:nvPr/>
        </p:nvSpPr>
        <p:spPr>
          <a:xfrm xmlns:a="http://schemas.openxmlformats.org/drawingml/2006/main">
            <a:off x="2095500" y="3333750"/>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已知未告知，可能涉及缔约过失责任</a:t>
            </a:r>
          </a:p>
        </p:txBody>
      </p:sp>
      <p:sp>
        <p:nvSpPr>
          <p:cNvPr id="8" name="">
            <a:extLst xmlns:a="http://schemas.openxmlformats.org/drawingml/2006/main">
              <a:ext uri="{FF2B5EF4-FFF2-40B4-BE49-F238E27FC236}">
                <a16:creationId xmlns:a16="http://schemas.microsoft.com/office/drawing/2014/main" id="{C526BF5C-D079-4285-A262-0D00B5DC415D}"/>
              </a:ext>
            </a:extLst>
          </p:cNvPr>
          <p:cNvSpPr>
            <a:spLocks xmlns:a="http://schemas.openxmlformats.org/drawingml/2006/main" noGrp="1"/>
          </p:cNvSpPr>
          <p:nvPr/>
        </p:nvSpPr>
        <p:spPr>
          <a:xfrm xmlns:a="http://schemas.openxmlformats.org/drawingml/2006/main">
            <a:off x="2095500" y="3952875"/>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《民法典》第500条要求订约阶段遵守诚信原则，不得故意隐瞒与订立合同有关的重要事实或提供虚假情况。</a:t>
            </a:r>
          </a:p>
        </p:txBody>
      </p:sp>
      <p:sp>
        <p:nvSpPr>
          <p:cNvPr id="9" name="">
            <a:extLst xmlns:a="http://schemas.openxmlformats.org/drawingml/2006/main">
              <a:ext uri="{FF2B5EF4-FFF2-40B4-BE49-F238E27FC236}">
                <a16:creationId xmlns:a16="http://schemas.microsoft.com/office/drawing/2014/main" id="{2C4DD6A7-A5B9-4A8D-A009-A96DFAC2E0AA}"/>
              </a:ext>
            </a:extLst>
          </p:cNvPr>
          <p:cNvSpPr>
            <a:spLocks xmlns:a="http://schemas.openxmlformats.org/drawingml/2006/main" noGrp="1"/>
          </p:cNvSpPr>
          <p:nvPr/>
        </p:nvSpPr>
        <p:spPr>
          <a:xfrm xmlns:a="http://schemas.openxmlformats.org/drawingml/2006/main">
            <a:off x="1047750" y="471487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03</a:t>
            </a:r>
          </a:p>
        </p:txBody>
      </p:sp>
      <p:sp>
        <p:nvSpPr>
          <p:cNvPr id="10" name="">
            <a:extLst xmlns:a="http://schemas.openxmlformats.org/drawingml/2006/main">
              <a:ext uri="{FF2B5EF4-FFF2-40B4-BE49-F238E27FC236}">
                <a16:creationId xmlns:a16="http://schemas.microsoft.com/office/drawing/2014/main" id="{72C5E26D-017E-4416-B10F-EE12C669BD04}"/>
              </a:ext>
            </a:extLst>
          </p:cNvPr>
          <p:cNvSpPr>
            <a:spLocks xmlns:a="http://schemas.openxmlformats.org/drawingml/2006/main" noGrp="1"/>
          </p:cNvSpPr>
          <p:nvPr/>
        </p:nvSpPr>
        <p:spPr>
          <a:xfrm xmlns:a="http://schemas.openxmlformats.org/drawingml/2006/main">
            <a:off x="2095500" y="471487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宣传承诺与设计变更，均有规则约束</a:t>
            </a:r>
          </a:p>
        </p:txBody>
      </p:sp>
      <p:sp>
        <p:nvSpPr>
          <p:cNvPr id="11" name="">
            <a:extLst xmlns:a="http://schemas.openxmlformats.org/drawingml/2006/main">
              <a:ext uri="{FF2B5EF4-FFF2-40B4-BE49-F238E27FC236}">
                <a16:creationId xmlns:a16="http://schemas.microsoft.com/office/drawing/2014/main" id="{8FCBBBA9-C551-4B77-B1EA-B86002C269B0}"/>
              </a:ext>
            </a:extLst>
          </p:cNvPr>
          <p:cNvSpPr>
            <a:spLocks xmlns:a="http://schemas.openxmlformats.org/drawingml/2006/main" noGrp="1"/>
          </p:cNvSpPr>
          <p:nvPr/>
        </p:nvSpPr>
        <p:spPr>
          <a:xfrm xmlns:a="http://schemas.openxmlformats.org/drawingml/2006/main">
            <a:off x="2095500" y="5334000"/>
            <a:ext cx="857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商品房买卖司法解释第3条关注具体销售说明和允诺；《商品房销售管理办法》第24条涉及规划、设计变更通知义务。具体适用以合同、宣传材料、审批文件及实际影响为准。</a:t>
            </a:r>
          </a:p>
        </p:txBody>
      </p:sp>
      <p:sp>
        <p:nvSpPr>
          <p:cNvPr id="12" name="">
            <a:extLst xmlns:a="http://schemas.openxmlformats.org/drawingml/2006/main">
              <a:ext uri="{FF2B5EF4-FFF2-40B4-BE49-F238E27FC236}">
                <a16:creationId xmlns:a16="http://schemas.microsoft.com/office/drawing/2014/main" id="{7EDD26B2-4CA3-434D-9370-BCC9C0CF0BFF}"/>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项目主入口优化事项  05</a:t>
            </a:r>
          </a:p>
        </p:txBody>
      </p:sp>
    </p:spTree>
    <p:extLst>
      <p:ext uri="{BB962C8B-B14F-4D97-AF65-F5344CB8AC3E}">
        <p14:creationId xmlns:p14="http://schemas.microsoft.com/office/powerpoint/2010/main" val="1853797301"/>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6763E59-9E77-4ACE-906A-26096F3771CF}"/>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05</a:t>
            </a:r>
          </a:p>
        </p:txBody>
      </p:sp>
      <p:sp>
        <p:nvSpPr>
          <p:cNvPr id="2" name="">
            <a:extLst xmlns:a="http://schemas.openxmlformats.org/drawingml/2006/main">
              <a:ext uri="{FF2B5EF4-FFF2-40B4-BE49-F238E27FC236}">
                <a16:creationId xmlns:a16="http://schemas.microsoft.com/office/drawing/2014/main" id="{8B115EE2-3260-40AF-9AB7-5C413E35F1F4}"/>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202824"/>
                </a:solidFill>
                <a:latin typeface="Alibaba PuHuiTi 3.0"/>
                <a:ea typeface="Alibaba PuHuiTi 3.0"/>
                <a:cs typeface="Alibaba PuHuiTi 3.0"/>
              </a:defRPr>
            </a:pPr>
            <a:r>
              <a:rPr sz="2850" b="1">
                <a:solidFill>
                  <a:srgbClr val="202824"/>
                </a:solidFill>
                <a:latin typeface="Alibaba PuHuiTi 3.0"/>
                <a:ea typeface="Alibaba PuHuiTi 3.0"/>
                <a:cs typeface="Alibaba PuHuiTi 3.0"/>
              </a:rPr>
              <a:t>小区车道紧邻大门出口，车辆与行人存在交叉风险</a:t>
            </a:r>
          </a:p>
        </p:txBody>
      </p:sp>
      <p:sp>
        <p:nvSpPr>
          <p:cNvPr id="3" name="">
            <a:extLst xmlns:a="http://schemas.openxmlformats.org/drawingml/2006/main">
              <a:ext uri="{FF2B5EF4-FFF2-40B4-BE49-F238E27FC236}">
                <a16:creationId xmlns:a16="http://schemas.microsoft.com/office/drawing/2014/main" id="{9B8A6B7F-3A27-4DE8-8CD4-945204FDF78D}"/>
              </a:ext>
            </a:extLst>
          </p:cNvPr>
          <p:cNvSpPr>
            <a:spLocks xmlns:a="http://schemas.openxmlformats.org/drawingml/2006/main" noGrp="1"/>
          </p:cNvSpPr>
          <p:nvPr/>
        </p:nvSpPr>
        <p:spPr>
          <a:xfrm xmlns:a="http://schemas.openxmlformats.org/drawingml/2006/main">
            <a:off x="781050" y="1504950"/>
            <a:ext cx="647700" cy="38100"/>
          </a:xfrm>
          <a:prstGeom xmlns:a="http://schemas.openxmlformats.org/drawingml/2006/main" prst="rect">
            <a:avLst/>
          </a:prstGeom>
          <a:solidFill xmlns:a="http://schemas.openxmlformats.org/drawingml/2006/main">
            <a:srgbClr val="9D4B40"/>
          </a:solidFill>
          <a:ln xmlns:a="http://schemas.openxmlformats.org/drawingml/2006/main" w="0">
            <a:noFill/>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4c421aeafdf44b7"/>
          <a:stretch xmlns:a="http://schemas.openxmlformats.org/drawingml/2006/main"/>
        </p:blipFill>
        <p:spPr>
          <a:xfrm xmlns:a="http://schemas.openxmlformats.org/drawingml/2006/main">
            <a:off x="1171431" y="1714500"/>
            <a:ext cx="4172239" cy="4495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47105DD-BD98-4FDB-B651-34417F3B35B2}"/>
              </a:ext>
            </a:extLst>
          </p:cNvPr>
          <p:cNvSpPr>
            <a:spLocks xmlns:a="http://schemas.openxmlformats.org/drawingml/2006/main" noGrp="1"/>
          </p:cNvSpPr>
          <p:nvPr/>
        </p:nvSpPr>
        <p:spPr>
          <a:xfrm xmlns:a="http://schemas.openxmlformats.org/drawingml/2006/main">
            <a:off x="781050" y="1714500"/>
            <a:ext cx="4953000" cy="4495800"/>
          </a:xfrm>
          <a:prstGeom xmlns:a="http://schemas.openxmlformats.org/drawingml/2006/main" prst="rect">
            <a:avLst/>
          </a:prstGeom>
          <a:noFill xmlns:a="http://schemas.openxmlformats.org/drawingml/2006/main"/>
          <a:ln xmlns:a="http://schemas.openxmlformats.org/drawingml/2006/main" w="9525">
            <a:solidFill>
              <a:srgbClr val="D9D2C7"/>
            </a:solidFill>
          </a:ln>
        </p:spPr>
      </p:sp>
      <p:sp>
        <p:nvSpPr>
          <p:cNvPr id="6" name="">
            <a:extLst xmlns:a="http://schemas.openxmlformats.org/drawingml/2006/main">
              <a:ext uri="{FF2B5EF4-FFF2-40B4-BE49-F238E27FC236}">
                <a16:creationId xmlns:a16="http://schemas.microsoft.com/office/drawing/2014/main" id="{F9307435-8BF7-44DE-8A43-82FC46424329}"/>
              </a:ext>
            </a:extLst>
          </p:cNvPr>
          <p:cNvSpPr>
            <a:spLocks xmlns:a="http://schemas.openxmlformats.org/drawingml/2006/main" noGrp="1"/>
          </p:cNvSpPr>
          <p:nvPr/>
        </p:nvSpPr>
        <p:spPr>
          <a:xfrm xmlns:a="http://schemas.openxmlformats.org/drawingml/2006/main">
            <a:off x="6191250" y="1819275"/>
            <a:ext cx="5162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现状关系</a:t>
            </a:r>
          </a:p>
        </p:txBody>
      </p:sp>
      <p:sp>
        <p:nvSpPr>
          <p:cNvPr id="7" name="">
            <a:extLst xmlns:a="http://schemas.openxmlformats.org/drawingml/2006/main">
              <a:ext uri="{FF2B5EF4-FFF2-40B4-BE49-F238E27FC236}">
                <a16:creationId xmlns:a16="http://schemas.microsoft.com/office/drawing/2014/main" id="{65AFF1D2-4B87-4E74-8C74-5BBF86399915}"/>
              </a:ext>
            </a:extLst>
          </p:cNvPr>
          <p:cNvSpPr>
            <a:spLocks xmlns:a="http://schemas.openxmlformats.org/drawingml/2006/main" noGrp="1"/>
          </p:cNvSpPr>
          <p:nvPr/>
        </p:nvSpPr>
        <p:spPr>
          <a:xfrm xmlns:a="http://schemas.openxmlformats.org/drawingml/2006/main">
            <a:off x="6191250" y="2190750"/>
            <a:ext cx="51625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325" b="1">
                <a:solidFill>
                  <a:srgbClr val="202824"/>
                </a:solidFill>
                <a:latin typeface="Alibaba PuHuiTi 3.0"/>
                <a:ea typeface="Alibaba PuHuiTi 3.0"/>
                <a:cs typeface="Alibaba PuHuiTi 3.0"/>
              </a:defRPr>
            </a:pPr>
            <a:r>
              <a:rPr sz="2325" b="1">
                <a:solidFill>
                  <a:srgbClr val="202824"/>
                </a:solidFill>
                <a:latin typeface="Alibaba PuHuiTi 3.0"/>
                <a:ea typeface="Alibaba PuHuiTi 3.0"/>
                <a:cs typeface="Alibaba PuHuiTi 3.0"/>
              </a:rPr>
              <a:t>大门出口紧邻</a:t>
            </a:r>
          </a:p>
          <a:p xmlns:a="http://schemas.openxmlformats.org/drawingml/2006/main">
            <a:pPr algn="l">
              <a:buNone/>
              <a:defRPr sz="2325" b="1">
                <a:solidFill>
                  <a:srgbClr val="202824"/>
                </a:solidFill>
                <a:latin typeface="Alibaba PuHuiTi 3.0"/>
                <a:ea typeface="Alibaba PuHuiTi 3.0"/>
                <a:cs typeface="Alibaba PuHuiTi 3.0"/>
              </a:defRPr>
            </a:pPr>
            <a:r>
              <a:rPr sz="2325" b="1">
                <a:solidFill>
                  <a:srgbClr val="202824"/>
                </a:solidFill>
                <a:latin typeface="Alibaba PuHuiTi 3.0"/>
                <a:ea typeface="Alibaba PuHuiTi 3.0"/>
                <a:cs typeface="Alibaba PuHuiTi 3.0"/>
              </a:rPr>
              <a:t>小区内部车道</a:t>
            </a:r>
          </a:p>
        </p:txBody>
      </p:sp>
      <p:sp>
        <p:nvSpPr>
          <p:cNvPr id="8" name="">
            <a:extLst xmlns:a="http://schemas.openxmlformats.org/drawingml/2006/main">
              <a:ext uri="{FF2B5EF4-FFF2-40B4-BE49-F238E27FC236}">
                <a16:creationId xmlns:a16="http://schemas.microsoft.com/office/drawing/2014/main" id="{385736CB-F3E8-4898-989A-11157FC9625B}"/>
              </a:ext>
            </a:extLst>
          </p:cNvPr>
          <p:cNvSpPr>
            <a:spLocks xmlns:a="http://schemas.openxmlformats.org/drawingml/2006/main" noGrp="1"/>
          </p:cNvSpPr>
          <p:nvPr/>
        </p:nvSpPr>
        <p:spPr>
          <a:xfrm xmlns:a="http://schemas.openxmlformats.org/drawingml/2006/main">
            <a:off x="6191250" y="3095625"/>
            <a:ext cx="5162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26159"/>
                </a:solidFill>
                <a:latin typeface="Alibaba PuHuiTi 3.0"/>
                <a:ea typeface="Alibaba PuHuiTi 3.0"/>
                <a:cs typeface="Alibaba PuHuiTi 3.0"/>
              </a:defRPr>
            </a:pPr>
            <a:r>
              <a:rPr sz="1425" b="0">
                <a:solidFill>
                  <a:srgbClr val="526159"/>
                </a:solidFill>
                <a:latin typeface="Alibaba PuHuiTi 3.0"/>
                <a:ea typeface="Alibaba PuHuiTi 3.0"/>
                <a:cs typeface="Alibaba PuHuiTi 3.0"/>
              </a:rPr>
              <a:t>小区内部车道紧邻大门出口，车辆动线与出口行人动线可能直接交叉，存在交通安全风险。</a:t>
            </a:r>
          </a:p>
        </p:txBody>
      </p:sp>
      <p:sp>
        <p:nvSpPr>
          <p:cNvPr id="9" name="">
            <a:extLst xmlns:a="http://schemas.openxmlformats.org/drawingml/2006/main">
              <a:ext uri="{FF2B5EF4-FFF2-40B4-BE49-F238E27FC236}">
                <a16:creationId xmlns:a16="http://schemas.microsoft.com/office/drawing/2014/main" id="{E65324B2-5E72-427E-8CA7-FECE89DAFEFD}"/>
              </a:ext>
            </a:extLst>
          </p:cNvPr>
          <p:cNvSpPr>
            <a:spLocks xmlns:a="http://schemas.openxmlformats.org/drawingml/2006/main" noGrp="1"/>
          </p:cNvSpPr>
          <p:nvPr/>
        </p:nvSpPr>
        <p:spPr>
          <a:xfrm xmlns:a="http://schemas.openxmlformats.org/drawingml/2006/main">
            <a:off x="6191250" y="4010025"/>
            <a:ext cx="5162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9D4B40"/>
                </a:solidFill>
                <a:latin typeface="Alibaba PuHuiTi 3.0"/>
                <a:ea typeface="Alibaba PuHuiTi 3.0"/>
                <a:cs typeface="Alibaba PuHuiTi 3.0"/>
              </a:defRPr>
            </a:pPr>
            <a:r>
              <a:rPr sz="1425" b="1">
                <a:solidFill>
                  <a:srgbClr val="9D4B40"/>
                </a:solidFill>
                <a:latin typeface="Alibaba PuHuiTi 3.0"/>
                <a:ea typeface="Alibaba PuHuiTi 3.0"/>
                <a:cs typeface="Alibaba PuHuiTi 3.0"/>
              </a:rPr>
              <a:t>安全风险</a:t>
            </a:r>
          </a:p>
        </p:txBody>
      </p:sp>
      <p:sp>
        <p:nvSpPr>
          <p:cNvPr id="10" name="">
            <a:extLst xmlns:a="http://schemas.openxmlformats.org/drawingml/2006/main">
              <a:ext uri="{FF2B5EF4-FFF2-40B4-BE49-F238E27FC236}">
                <a16:creationId xmlns:a16="http://schemas.microsoft.com/office/drawing/2014/main" id="{04642000-6275-498F-A47D-7513D30E7777}"/>
              </a:ext>
            </a:extLst>
          </p:cNvPr>
          <p:cNvSpPr>
            <a:spLocks xmlns:a="http://schemas.openxmlformats.org/drawingml/2006/main" noGrp="1"/>
          </p:cNvSpPr>
          <p:nvPr/>
        </p:nvSpPr>
        <p:spPr>
          <a:xfrm xmlns:a="http://schemas.openxmlformats.org/drawingml/2006/main">
            <a:off x="6191250" y="4362450"/>
            <a:ext cx="51625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202824"/>
                </a:solidFill>
                <a:latin typeface="Alibaba PuHuiTi 3.0"/>
                <a:ea typeface="Alibaba PuHuiTi 3.0"/>
                <a:cs typeface="Alibaba PuHuiTi 3.0"/>
              </a:defRPr>
            </a:pPr>
            <a:r>
              <a:rPr sz="2175" b="1">
                <a:solidFill>
                  <a:srgbClr val="202824"/>
                </a:solidFill>
                <a:latin typeface="Alibaba PuHuiTi 3.0"/>
                <a:ea typeface="Alibaba PuHuiTi 3.0"/>
                <a:cs typeface="Alibaba PuHuiTi 3.0"/>
              </a:rPr>
              <a:t>小区车道车辆与</a:t>
            </a:r>
          </a:p>
          <a:p xmlns:a="http://schemas.openxmlformats.org/drawingml/2006/main">
            <a:pPr algn="l">
              <a:buNone/>
              <a:defRPr sz="2175" b="1">
                <a:solidFill>
                  <a:srgbClr val="202824"/>
                </a:solidFill>
                <a:latin typeface="Alibaba PuHuiTi 3.0"/>
                <a:ea typeface="Alibaba PuHuiTi 3.0"/>
                <a:cs typeface="Alibaba PuHuiTi 3.0"/>
              </a:defRPr>
            </a:pPr>
            <a:r>
              <a:rPr sz="2175" b="1">
                <a:solidFill>
                  <a:srgbClr val="202824"/>
                </a:solidFill>
                <a:latin typeface="Alibaba PuHuiTi 3.0"/>
                <a:ea typeface="Alibaba PuHuiTi 3.0"/>
                <a:cs typeface="Alibaba PuHuiTi 3.0"/>
              </a:rPr>
              <a:t>大门出口行人存在交叉风险</a:t>
            </a:r>
          </a:p>
        </p:txBody>
      </p:sp>
      <p:sp>
        <p:nvSpPr>
          <p:cNvPr id="11" name="">
            <a:extLst xmlns:a="http://schemas.openxmlformats.org/drawingml/2006/main">
              <a:ext uri="{FF2B5EF4-FFF2-40B4-BE49-F238E27FC236}">
                <a16:creationId xmlns:a16="http://schemas.microsoft.com/office/drawing/2014/main" id="{853263EA-F777-4F15-8ACC-DB10C1516A2B}"/>
              </a:ext>
            </a:extLst>
          </p:cNvPr>
          <p:cNvSpPr>
            <a:spLocks xmlns:a="http://schemas.openxmlformats.org/drawingml/2006/main" noGrp="1"/>
          </p:cNvSpPr>
          <p:nvPr/>
        </p:nvSpPr>
        <p:spPr>
          <a:xfrm xmlns:a="http://schemas.openxmlformats.org/drawingml/2006/main">
            <a:off x="6191250" y="5267325"/>
            <a:ext cx="51625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26159"/>
                </a:solidFill>
                <a:latin typeface="Alibaba PuHuiTi 3.0"/>
                <a:ea typeface="Alibaba PuHuiTi 3.0"/>
                <a:cs typeface="Alibaba PuHuiTi 3.0"/>
              </a:defRPr>
            </a:pPr>
            <a:r>
              <a:rPr sz="1425" b="0">
                <a:solidFill>
                  <a:srgbClr val="526159"/>
                </a:solidFill>
                <a:latin typeface="Alibaba PuHuiTi 3.0"/>
                <a:ea typeface="Alibaba PuHuiTi 3.0"/>
                <a:cs typeface="Alibaba PuHuiTi 3.0"/>
              </a:rPr>
              <a:t>请开发商提交交通组织优化方案，说明人车分流、减速、视距和步行缓冲措施。</a:t>
            </a:r>
          </a:p>
        </p:txBody>
      </p:sp>
      <p:sp>
        <p:nvSpPr>
          <p:cNvPr id="12" name="">
            <a:extLst xmlns:a="http://schemas.openxmlformats.org/drawingml/2006/main">
              <a:ext uri="{FF2B5EF4-FFF2-40B4-BE49-F238E27FC236}">
                <a16:creationId xmlns:a16="http://schemas.microsoft.com/office/drawing/2014/main" id="{3569416A-4CA3-4E36-952F-3C4A5A5C0F4B}"/>
              </a:ext>
            </a:extLst>
          </p:cNvPr>
          <p:cNvSpPr>
            <a:spLocks xmlns:a="http://schemas.openxmlformats.org/drawingml/2006/main" noGrp="1"/>
          </p:cNvSpPr>
          <p:nvPr/>
        </p:nvSpPr>
        <p:spPr>
          <a:xfrm xmlns:a="http://schemas.openxmlformats.org/drawingml/2006/main">
            <a:off x="6191250" y="5991225"/>
            <a:ext cx="5162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a:solidFill>
                  <a:srgbClr val="526159"/>
                </a:solidFill>
                <a:latin typeface="Alibaba PuHuiTi 3.0"/>
                <a:ea typeface="Alibaba PuHuiTi 3.0"/>
                <a:cs typeface="Alibaba PuHuiTi 3.0"/>
              </a:defRPr>
            </a:pPr>
            <a:r>
              <a:rPr sz="1050" b="0">
                <a:solidFill>
                  <a:srgbClr val="526159"/>
                </a:solidFill>
                <a:latin typeface="Alibaba PuHuiTi 3.0"/>
                <a:ea typeface="Alibaba PuHuiTi 3.0"/>
                <a:cs typeface="Alibaba PuHuiTi 3.0"/>
              </a:rPr>
              <a:t>图中红字为业主标注，具体交通关系以开发商图纸和现场复核为准。</a:t>
            </a:r>
          </a:p>
        </p:txBody>
      </p:sp>
      <p:sp>
        <p:nvSpPr>
          <p:cNvPr id="13" name="">
            <a:extLst xmlns:a="http://schemas.openxmlformats.org/drawingml/2006/main">
              <a:ext uri="{FF2B5EF4-FFF2-40B4-BE49-F238E27FC236}">
                <a16:creationId xmlns:a16="http://schemas.microsoft.com/office/drawing/2014/main" id="{C862DD15-A263-4BE7-B3F9-AC8A257B0DD2}"/>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项目主入口优化事项  06</a:t>
            </a:r>
          </a:p>
        </p:txBody>
      </p:sp>
    </p:spTree>
    <p:extLst>
      <p:ext uri="{BB962C8B-B14F-4D97-AF65-F5344CB8AC3E}">
        <p14:creationId xmlns:p14="http://schemas.microsoft.com/office/powerpoint/2010/main" val="456636031"/>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4544418-DB37-43BA-8CB5-0966D4F2C87B}"/>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06</a:t>
            </a:r>
          </a:p>
        </p:txBody>
      </p:sp>
      <p:sp>
        <p:nvSpPr>
          <p:cNvPr id="2" name="">
            <a:extLst xmlns:a="http://schemas.openxmlformats.org/drawingml/2006/main">
              <a:ext uri="{FF2B5EF4-FFF2-40B4-BE49-F238E27FC236}">
                <a16:creationId xmlns:a16="http://schemas.microsoft.com/office/drawing/2014/main" id="{AD325B10-30AC-498E-B8ED-41BAAF0CB1DA}"/>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落地方案：优先论证小区内部车行路线优化</a:t>
            </a:r>
          </a:p>
        </p:txBody>
      </p:sp>
      <p:sp>
        <p:nvSpPr>
          <p:cNvPr id="3" name="">
            <a:extLst xmlns:a="http://schemas.openxmlformats.org/drawingml/2006/main">
              <a:ext uri="{FF2B5EF4-FFF2-40B4-BE49-F238E27FC236}">
                <a16:creationId xmlns:a16="http://schemas.microsoft.com/office/drawing/2014/main" id="{D030CE92-EED8-427A-BA72-6E13A947E1B6}"/>
              </a:ext>
            </a:extLst>
          </p:cNvPr>
          <p:cNvSpPr>
            <a:spLocks xmlns:a="http://schemas.openxmlformats.org/drawingml/2006/main" noGrp="1"/>
          </p:cNvSpPr>
          <p:nvPr/>
        </p:nvSpPr>
        <p:spPr>
          <a:xfrm xmlns:a="http://schemas.openxmlformats.org/drawingml/2006/main">
            <a:off x="781050" y="14573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车行路线可优化时采用纵向花坛，为入口释放更完整的造景空间</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d364c283a96487f"/>
          <a:srcRect xmlns:a="http://schemas.openxmlformats.org/drawingml/2006/main" l="13" t="0" r="13" b="0"/>
          <a:stretch xmlns:a="http://schemas.openxmlformats.org/drawingml/2006/main">
            <a:fillRect l="0" t="0" r="0" b="0"/>
          </a:stretch>
        </p:blipFill>
        <p:spPr>
          <a:xfrm xmlns:a="http://schemas.openxmlformats.org/drawingml/2006/main">
            <a:off x="781050" y="1981200"/>
            <a:ext cx="6953250" cy="2781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55BC189-3B0A-478E-A197-01328E77A5D9}"/>
              </a:ext>
            </a:extLst>
          </p:cNvPr>
          <p:cNvSpPr>
            <a:spLocks xmlns:a="http://schemas.openxmlformats.org/drawingml/2006/main" noGrp="1"/>
          </p:cNvSpPr>
          <p:nvPr/>
        </p:nvSpPr>
        <p:spPr>
          <a:xfrm xmlns:a="http://schemas.openxmlformats.org/drawingml/2006/main">
            <a:off x="781050" y="1981200"/>
            <a:ext cx="6953250" cy="2781300"/>
          </a:xfrm>
          <a:prstGeom xmlns:a="http://schemas.openxmlformats.org/drawingml/2006/main" prst="rect">
            <a:avLst/>
          </a:prstGeom>
          <a:noFill xmlns:a="http://schemas.openxmlformats.org/drawingml/2006/main"/>
          <a:ln xmlns:a="http://schemas.openxmlformats.org/drawingml/2006/main" w="9525">
            <a:solidFill>
              <a:srgbClr val="D9D2C7"/>
            </a:solidFill>
          </a:ln>
        </p:spPr>
      </p:sp>
      <p:sp>
        <p:nvSpPr>
          <p:cNvPr id="6" name="">
            <a:extLst xmlns:a="http://schemas.openxmlformats.org/drawingml/2006/main">
              <a:ext uri="{FF2B5EF4-FFF2-40B4-BE49-F238E27FC236}">
                <a16:creationId xmlns:a16="http://schemas.microsoft.com/office/drawing/2014/main" id="{BA42C387-BC0B-423D-90AA-DD7AD48A42AC}"/>
              </a:ext>
            </a:extLst>
          </p:cNvPr>
          <p:cNvSpPr>
            <a:spLocks xmlns:a="http://schemas.openxmlformats.org/drawingml/2006/main" noGrp="1"/>
          </p:cNvSpPr>
          <p:nvPr/>
        </p:nvSpPr>
        <p:spPr>
          <a:xfrm xmlns:a="http://schemas.openxmlformats.org/drawingml/2006/main">
            <a:off x="781050" y="4857750"/>
            <a:ext cx="695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a:solidFill>
                  <a:srgbClr val="526159"/>
                </a:solidFill>
                <a:latin typeface="Alibaba PuHuiTi 3.0"/>
                <a:ea typeface="Alibaba PuHuiTi 3.0"/>
                <a:cs typeface="Alibaba PuHuiTi 3.0"/>
              </a:defRPr>
            </a:pPr>
            <a:r>
              <a:rPr sz="1050" b="0">
                <a:solidFill>
                  <a:srgbClr val="526159"/>
                </a:solidFill>
                <a:latin typeface="Alibaba PuHuiTi 3.0"/>
                <a:ea typeface="Alibaba PuHuiTi 3.0"/>
                <a:cs typeface="Alibaba PuHuiTi 3.0"/>
              </a:rPr>
              <a:t>纵向花坛与丰富林下景观效果参考（业主提供）</a:t>
            </a:r>
          </a:p>
        </p:txBody>
      </p:sp>
      <p:sp>
        <p:nvSpPr>
          <p:cNvPr id="7" name="">
            <a:extLst xmlns:a="http://schemas.openxmlformats.org/drawingml/2006/main">
              <a:ext uri="{FF2B5EF4-FFF2-40B4-BE49-F238E27FC236}">
                <a16:creationId xmlns:a16="http://schemas.microsoft.com/office/drawing/2014/main" id="{BBFF473B-61F9-4FB5-9311-67B8B6806029}"/>
              </a:ext>
            </a:extLst>
          </p:cNvPr>
          <p:cNvSpPr>
            <a:spLocks xmlns:a="http://schemas.openxmlformats.org/drawingml/2006/main" noGrp="1"/>
          </p:cNvSpPr>
          <p:nvPr/>
        </p:nvSpPr>
        <p:spPr>
          <a:xfrm xmlns:a="http://schemas.openxmlformats.org/drawingml/2006/main">
            <a:off x="8096250" y="2038350"/>
            <a:ext cx="3257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优先建议</a:t>
            </a:r>
          </a:p>
        </p:txBody>
      </p:sp>
      <p:sp>
        <p:nvSpPr>
          <p:cNvPr id="8" name="">
            <a:extLst xmlns:a="http://schemas.openxmlformats.org/drawingml/2006/main">
              <a:ext uri="{FF2B5EF4-FFF2-40B4-BE49-F238E27FC236}">
                <a16:creationId xmlns:a16="http://schemas.microsoft.com/office/drawing/2014/main" id="{8D7A2665-538A-48A4-AB46-76F75DAF610E}"/>
              </a:ext>
            </a:extLst>
          </p:cNvPr>
          <p:cNvSpPr>
            <a:spLocks xmlns:a="http://schemas.openxmlformats.org/drawingml/2006/main" noGrp="1"/>
          </p:cNvSpPr>
          <p:nvPr/>
        </p:nvSpPr>
        <p:spPr>
          <a:xfrm xmlns:a="http://schemas.openxmlformats.org/drawingml/2006/main">
            <a:off x="8096250" y="2362200"/>
            <a:ext cx="3257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1">
                <a:solidFill>
                  <a:srgbClr val="202824"/>
                </a:solidFill>
                <a:latin typeface="Alibaba PuHuiTi 3.0"/>
                <a:ea typeface="Alibaba PuHuiTi 3.0"/>
                <a:cs typeface="Alibaba PuHuiTi 3.0"/>
              </a:defRPr>
            </a:pPr>
            <a:r>
              <a:rPr sz="2100" b="1">
                <a:solidFill>
                  <a:srgbClr val="202824"/>
                </a:solidFill>
                <a:latin typeface="Alibaba PuHuiTi 3.0"/>
                <a:ea typeface="Alibaba PuHuiTi 3.0"/>
                <a:cs typeface="Alibaba PuHuiTi 3.0"/>
              </a:rPr>
              <a:t>优化内部车行路线</a:t>
            </a:r>
          </a:p>
          <a:p xmlns:a="http://schemas.openxmlformats.org/drawingml/2006/main">
            <a:pPr algn="l">
              <a:buNone/>
              <a:defRPr sz="2100" b="1">
                <a:solidFill>
                  <a:srgbClr val="202824"/>
                </a:solidFill>
                <a:latin typeface="Alibaba PuHuiTi 3.0"/>
                <a:ea typeface="Alibaba PuHuiTi 3.0"/>
                <a:cs typeface="Alibaba PuHuiTi 3.0"/>
              </a:defRPr>
            </a:pPr>
            <a:r>
              <a:rPr sz="2100" b="1">
                <a:solidFill>
                  <a:srgbClr val="202824"/>
                </a:solidFill>
                <a:latin typeface="Alibaba PuHuiTi 3.0"/>
                <a:ea typeface="Alibaba PuHuiTi 3.0"/>
                <a:cs typeface="Alibaba PuHuiTi 3.0"/>
              </a:rPr>
              <a:t>采用纵向花坛</a:t>
            </a:r>
          </a:p>
        </p:txBody>
      </p:sp>
      <p:sp>
        <p:nvSpPr>
          <p:cNvPr id="9" name="">
            <a:extLst xmlns:a="http://schemas.openxmlformats.org/drawingml/2006/main">
              <a:ext uri="{FF2B5EF4-FFF2-40B4-BE49-F238E27FC236}">
                <a16:creationId xmlns:a16="http://schemas.microsoft.com/office/drawing/2014/main" id="{4F67E75C-5EC0-427A-92FF-D9EF9D0CF5E9}"/>
              </a:ext>
            </a:extLst>
          </p:cNvPr>
          <p:cNvSpPr>
            <a:spLocks xmlns:a="http://schemas.openxmlformats.org/drawingml/2006/main" noGrp="1"/>
          </p:cNvSpPr>
          <p:nvPr/>
        </p:nvSpPr>
        <p:spPr>
          <a:xfrm xmlns:a="http://schemas.openxmlformats.org/drawingml/2006/main">
            <a:off x="8096250" y="3314700"/>
            <a:ext cx="3257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在不影响消防、车辆转弯和日常通行的前提下，调整小区内部车行路线，为入口两侧释放空间。</a:t>
            </a:r>
          </a:p>
        </p:txBody>
      </p:sp>
      <p:sp>
        <p:nvSpPr>
          <p:cNvPr id="10" name="">
            <a:extLst xmlns:a="http://schemas.openxmlformats.org/drawingml/2006/main">
              <a:ext uri="{FF2B5EF4-FFF2-40B4-BE49-F238E27FC236}">
                <a16:creationId xmlns:a16="http://schemas.microsoft.com/office/drawing/2014/main" id="{C1A05CF5-0DD8-4498-A28C-28678D7B9D44}"/>
              </a:ext>
            </a:extLst>
          </p:cNvPr>
          <p:cNvSpPr>
            <a:spLocks xmlns:a="http://schemas.openxmlformats.org/drawingml/2006/main" noGrp="1"/>
          </p:cNvSpPr>
          <p:nvPr/>
        </p:nvSpPr>
        <p:spPr>
          <a:xfrm xmlns:a="http://schemas.openxmlformats.org/drawingml/2006/main">
            <a:off x="8096250" y="4333875"/>
            <a:ext cx="3257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景观效果</a:t>
            </a:r>
          </a:p>
        </p:txBody>
      </p:sp>
      <p:sp>
        <p:nvSpPr>
          <p:cNvPr id="11" name="">
            <a:extLst xmlns:a="http://schemas.openxmlformats.org/drawingml/2006/main">
              <a:ext uri="{FF2B5EF4-FFF2-40B4-BE49-F238E27FC236}">
                <a16:creationId xmlns:a16="http://schemas.microsoft.com/office/drawing/2014/main" id="{E91082F5-B007-40EA-AC90-9C3E4A859EDB}"/>
              </a:ext>
            </a:extLst>
          </p:cNvPr>
          <p:cNvSpPr>
            <a:spLocks xmlns:a="http://schemas.openxmlformats.org/drawingml/2006/main" noGrp="1"/>
          </p:cNvSpPr>
          <p:nvPr/>
        </p:nvSpPr>
        <p:spPr>
          <a:xfrm xmlns:a="http://schemas.openxmlformats.org/drawingml/2006/main">
            <a:off x="8096250" y="4657725"/>
            <a:ext cx="3257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纵向花坛可增加前后层次，容纳更完整的罗汉松与林下植物组合，入口造景更丰富。</a:t>
            </a:r>
          </a:p>
        </p:txBody>
      </p:sp>
      <p:sp>
        <p:nvSpPr>
          <p:cNvPr id="12" name="">
            <a:extLst xmlns:a="http://schemas.openxmlformats.org/drawingml/2006/main">
              <a:ext uri="{FF2B5EF4-FFF2-40B4-BE49-F238E27FC236}">
                <a16:creationId xmlns:a16="http://schemas.microsoft.com/office/drawing/2014/main" id="{97A1C96C-3ED9-4C8E-901A-52C5F2633DF4}"/>
              </a:ext>
            </a:extLst>
          </p:cNvPr>
          <p:cNvSpPr>
            <a:spLocks xmlns:a="http://schemas.openxmlformats.org/drawingml/2006/main" noGrp="1"/>
          </p:cNvSpPr>
          <p:nvPr/>
        </p:nvSpPr>
        <p:spPr>
          <a:xfrm xmlns:a="http://schemas.openxmlformats.org/drawingml/2006/main">
            <a:off x="781050" y="5467350"/>
            <a:ext cx="76200" cy="704850"/>
          </a:xfrm>
          <a:prstGeom xmlns:a="http://schemas.openxmlformats.org/drawingml/2006/main" prst="rect">
            <a:avLst/>
          </a:prstGeom>
          <a:solidFill xmlns:a="http://schemas.openxmlformats.org/drawingml/2006/main">
            <a:srgbClr val="A8895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61310D1-C789-446F-8AF7-C1E3E34D27D9}"/>
              </a:ext>
            </a:extLst>
          </p:cNvPr>
          <p:cNvSpPr>
            <a:spLocks xmlns:a="http://schemas.openxmlformats.org/drawingml/2006/main" noGrp="1"/>
          </p:cNvSpPr>
          <p:nvPr/>
        </p:nvSpPr>
        <p:spPr>
          <a:xfrm xmlns:a="http://schemas.openxmlformats.org/drawingml/2006/main">
            <a:off x="1028700" y="5438775"/>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A8895E"/>
                </a:solidFill>
                <a:latin typeface="Alibaba PuHuiTi 3.0"/>
                <a:ea typeface="Alibaba PuHuiTi 3.0"/>
                <a:cs typeface="Alibaba PuHuiTi 3.0"/>
              </a:defRPr>
            </a:pPr>
            <a:r>
              <a:rPr sz="1275" b="1">
                <a:solidFill>
                  <a:srgbClr val="A8895E"/>
                </a:solidFill>
                <a:latin typeface="Alibaba PuHuiTi 3.0"/>
                <a:ea typeface="Alibaba PuHuiTi 3.0"/>
                <a:cs typeface="Alibaba PuHuiTi 3.0"/>
              </a:rPr>
              <a:t>保底方案</a:t>
            </a:r>
          </a:p>
        </p:txBody>
      </p:sp>
      <p:sp>
        <p:nvSpPr>
          <p:cNvPr id="14" name="">
            <a:extLst xmlns:a="http://schemas.openxmlformats.org/drawingml/2006/main">
              <a:ext uri="{FF2B5EF4-FFF2-40B4-BE49-F238E27FC236}">
                <a16:creationId xmlns:a16="http://schemas.microsoft.com/office/drawing/2014/main" id="{C9958C6D-31F6-4DD3-BC9A-FCF10DE897DE}"/>
              </a:ext>
            </a:extLst>
          </p:cNvPr>
          <p:cNvSpPr>
            <a:spLocks xmlns:a="http://schemas.openxmlformats.org/drawingml/2006/main" noGrp="1"/>
          </p:cNvSpPr>
          <p:nvPr/>
        </p:nvSpPr>
        <p:spPr>
          <a:xfrm xmlns:a="http://schemas.openxmlformats.org/drawingml/2006/main">
            <a:off x="1028700" y="5705475"/>
            <a:ext cx="1032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1">
                <a:solidFill>
                  <a:srgbClr val="202824"/>
                </a:solidFill>
                <a:latin typeface="Alibaba PuHuiTi 3.0"/>
                <a:ea typeface="Alibaba PuHuiTi 3.0"/>
                <a:cs typeface="Alibaba PuHuiTi 3.0"/>
              </a:defRPr>
            </a:pPr>
            <a:r>
              <a:rPr sz="1575" b="1">
                <a:solidFill>
                  <a:srgbClr val="202824"/>
                </a:solidFill>
                <a:latin typeface="Alibaba PuHuiTi 3.0"/>
                <a:ea typeface="Alibaba PuHuiTi 3.0"/>
                <a:cs typeface="Alibaba PuHuiTi 3.0"/>
              </a:rPr>
              <a:t>如内部车行路线无法调整，则采用横向花坛，控制进深并确保通行安全。</a:t>
            </a:r>
          </a:p>
        </p:txBody>
      </p:sp>
      <p:sp>
        <p:nvSpPr>
          <p:cNvPr id="15" name="">
            <a:extLst xmlns:a="http://schemas.openxmlformats.org/drawingml/2006/main">
              <a:ext uri="{FF2B5EF4-FFF2-40B4-BE49-F238E27FC236}">
                <a16:creationId xmlns:a16="http://schemas.microsoft.com/office/drawing/2014/main" id="{A4993425-852E-4383-B1A8-029F63798B9C}"/>
              </a:ext>
            </a:extLst>
          </p:cNvPr>
          <p:cNvSpPr>
            <a:spLocks xmlns:a="http://schemas.openxmlformats.org/drawingml/2006/main" noGrp="1"/>
          </p:cNvSpPr>
          <p:nvPr/>
        </p:nvSpPr>
        <p:spPr>
          <a:xfrm xmlns:a="http://schemas.openxmlformats.org/drawingml/2006/main">
            <a:off x="1028700" y="6029325"/>
            <a:ext cx="103251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最终方案应完成交通组织、消防疏散和现场尺寸复核，并与业主代表确认。</a:t>
            </a:r>
          </a:p>
        </p:txBody>
      </p:sp>
      <p:sp>
        <p:nvSpPr>
          <p:cNvPr id="16" name="">
            <a:extLst xmlns:a="http://schemas.openxmlformats.org/drawingml/2006/main">
              <a:ext uri="{FF2B5EF4-FFF2-40B4-BE49-F238E27FC236}">
                <a16:creationId xmlns:a16="http://schemas.microsoft.com/office/drawing/2014/main" id="{6DEABA94-9F87-4B64-94A3-2822329A38F3}"/>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项目主入口优化事项  07</a:t>
            </a:r>
          </a:p>
        </p:txBody>
      </p:sp>
    </p:spTree>
    <p:extLst>
      <p:ext uri="{BB962C8B-B14F-4D97-AF65-F5344CB8AC3E}">
        <p14:creationId xmlns:p14="http://schemas.microsoft.com/office/powerpoint/2010/main" val="106932587"/>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E3EA436-91E7-48B8-9F46-603EB90F1C1B}"/>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07</a:t>
            </a:r>
          </a:p>
        </p:txBody>
      </p:sp>
      <p:sp>
        <p:nvSpPr>
          <p:cNvPr id="2" name="">
            <a:extLst xmlns:a="http://schemas.openxmlformats.org/drawingml/2006/main">
              <a:ext uri="{FF2B5EF4-FFF2-40B4-BE49-F238E27FC236}">
                <a16:creationId xmlns:a16="http://schemas.microsoft.com/office/drawing/2014/main" id="{4757CE69-2FC5-4BE0-9929-B4F6B0F7C8A9}"/>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保底方案：车道无法优化时，采用横向小花坛</a:t>
            </a:r>
          </a:p>
        </p:txBody>
      </p:sp>
      <p:sp>
        <p:nvSpPr>
          <p:cNvPr id="3" name="">
            <a:extLst xmlns:a="http://schemas.openxmlformats.org/drawingml/2006/main">
              <a:ext uri="{FF2B5EF4-FFF2-40B4-BE49-F238E27FC236}">
                <a16:creationId xmlns:a16="http://schemas.microsoft.com/office/drawing/2014/main" id="{50A19FDA-E528-4C83-A319-B77F0040F258}"/>
              </a:ext>
            </a:extLst>
          </p:cNvPr>
          <p:cNvSpPr>
            <a:spLocks xmlns:a="http://schemas.openxmlformats.org/drawingml/2006/main" noGrp="1"/>
          </p:cNvSpPr>
          <p:nvPr/>
        </p:nvSpPr>
        <p:spPr>
          <a:xfrm xmlns:a="http://schemas.openxmlformats.org/drawingml/2006/main">
            <a:off x="781050" y="14573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控制花坛进深，保留两侧对称景观，并保证人行与车行安全</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4158e97ad0a4f45"/>
          <a:srcRect xmlns:a="http://schemas.openxmlformats.org/drawingml/2006/main" l="13" t="0" r="13" b="0"/>
          <a:stretch xmlns:a="http://schemas.openxmlformats.org/drawingml/2006/main">
            <a:fillRect l="0" t="0" r="0" b="0"/>
          </a:stretch>
        </p:blipFill>
        <p:spPr>
          <a:xfrm xmlns:a="http://schemas.openxmlformats.org/drawingml/2006/main">
            <a:off x="781050" y="1981200"/>
            <a:ext cx="6953250" cy="2781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6A22803-B6EB-49FB-9719-4A5DAD548069}"/>
              </a:ext>
            </a:extLst>
          </p:cNvPr>
          <p:cNvSpPr>
            <a:spLocks xmlns:a="http://schemas.openxmlformats.org/drawingml/2006/main" noGrp="1"/>
          </p:cNvSpPr>
          <p:nvPr/>
        </p:nvSpPr>
        <p:spPr>
          <a:xfrm xmlns:a="http://schemas.openxmlformats.org/drawingml/2006/main">
            <a:off x="781050" y="1981200"/>
            <a:ext cx="6953250" cy="2781300"/>
          </a:xfrm>
          <a:prstGeom xmlns:a="http://schemas.openxmlformats.org/drawingml/2006/main" prst="rect">
            <a:avLst/>
          </a:prstGeom>
          <a:noFill xmlns:a="http://schemas.openxmlformats.org/drawingml/2006/main"/>
          <a:ln xmlns:a="http://schemas.openxmlformats.org/drawingml/2006/main" w="9525">
            <a:solidFill>
              <a:srgbClr val="D9D2C7"/>
            </a:solidFill>
          </a:ln>
        </p:spPr>
      </p:sp>
      <p:sp>
        <p:nvSpPr>
          <p:cNvPr id="6" name="">
            <a:extLst xmlns:a="http://schemas.openxmlformats.org/drawingml/2006/main">
              <a:ext uri="{FF2B5EF4-FFF2-40B4-BE49-F238E27FC236}">
                <a16:creationId xmlns:a16="http://schemas.microsoft.com/office/drawing/2014/main" id="{CC7AC57E-3CDE-4D26-B448-24B66E9352F2}"/>
              </a:ext>
            </a:extLst>
          </p:cNvPr>
          <p:cNvSpPr>
            <a:spLocks xmlns:a="http://schemas.openxmlformats.org/drawingml/2006/main" noGrp="1"/>
          </p:cNvSpPr>
          <p:nvPr/>
        </p:nvSpPr>
        <p:spPr>
          <a:xfrm xmlns:a="http://schemas.openxmlformats.org/drawingml/2006/main">
            <a:off x="781050" y="4857750"/>
            <a:ext cx="695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a:solidFill>
                  <a:srgbClr val="526159"/>
                </a:solidFill>
                <a:latin typeface="Alibaba PuHuiTi 3.0"/>
                <a:ea typeface="Alibaba PuHuiTi 3.0"/>
                <a:cs typeface="Alibaba PuHuiTi 3.0"/>
              </a:defRPr>
            </a:pPr>
            <a:r>
              <a:rPr sz="1050" b="0">
                <a:solidFill>
                  <a:srgbClr val="526159"/>
                </a:solidFill>
                <a:latin typeface="Alibaba PuHuiTi 3.0"/>
                <a:ea typeface="Alibaba PuHuiTi 3.0"/>
                <a:cs typeface="Alibaba PuHuiTi 3.0"/>
              </a:rPr>
              <a:t>横向小花坛效果参考（业主提供）</a:t>
            </a:r>
          </a:p>
        </p:txBody>
      </p:sp>
      <p:sp>
        <p:nvSpPr>
          <p:cNvPr id="7" name="">
            <a:extLst xmlns:a="http://schemas.openxmlformats.org/drawingml/2006/main">
              <a:ext uri="{FF2B5EF4-FFF2-40B4-BE49-F238E27FC236}">
                <a16:creationId xmlns:a16="http://schemas.microsoft.com/office/drawing/2014/main" id="{47190E19-B5B6-4EE6-A73B-FA9080FCAE91}"/>
              </a:ext>
            </a:extLst>
          </p:cNvPr>
          <p:cNvSpPr>
            <a:spLocks xmlns:a="http://schemas.openxmlformats.org/drawingml/2006/main" noGrp="1"/>
          </p:cNvSpPr>
          <p:nvPr/>
        </p:nvSpPr>
        <p:spPr>
          <a:xfrm xmlns:a="http://schemas.openxmlformats.org/drawingml/2006/main">
            <a:off x="8096250" y="2038350"/>
            <a:ext cx="3257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适用条件</a:t>
            </a:r>
          </a:p>
        </p:txBody>
      </p:sp>
      <p:sp>
        <p:nvSpPr>
          <p:cNvPr id="8" name="">
            <a:extLst xmlns:a="http://schemas.openxmlformats.org/drawingml/2006/main">
              <a:ext uri="{FF2B5EF4-FFF2-40B4-BE49-F238E27FC236}">
                <a16:creationId xmlns:a16="http://schemas.microsoft.com/office/drawing/2014/main" id="{759587B9-AE7E-4E8B-B1D5-B5D2AB846B76}"/>
              </a:ext>
            </a:extLst>
          </p:cNvPr>
          <p:cNvSpPr>
            <a:spLocks xmlns:a="http://schemas.openxmlformats.org/drawingml/2006/main" noGrp="1"/>
          </p:cNvSpPr>
          <p:nvPr/>
        </p:nvSpPr>
        <p:spPr>
          <a:xfrm xmlns:a="http://schemas.openxmlformats.org/drawingml/2006/main">
            <a:off x="8096250" y="2362200"/>
            <a:ext cx="32575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1">
                <a:solidFill>
                  <a:srgbClr val="202824"/>
                </a:solidFill>
                <a:latin typeface="Alibaba PuHuiTi 3.0"/>
                <a:ea typeface="Alibaba PuHuiTi 3.0"/>
                <a:cs typeface="Alibaba PuHuiTi 3.0"/>
              </a:defRPr>
            </a:pPr>
            <a:r>
              <a:rPr sz="2100" b="1">
                <a:solidFill>
                  <a:srgbClr val="202824"/>
                </a:solidFill>
                <a:latin typeface="Alibaba PuHuiTi 3.0"/>
                <a:ea typeface="Alibaba PuHuiTi 3.0"/>
                <a:cs typeface="Alibaba PuHuiTi 3.0"/>
              </a:rPr>
              <a:t>内部车行路线</a:t>
            </a:r>
          </a:p>
          <a:p xmlns:a="http://schemas.openxmlformats.org/drawingml/2006/main">
            <a:pPr algn="l">
              <a:buNone/>
              <a:defRPr sz="2100" b="1">
                <a:solidFill>
                  <a:srgbClr val="202824"/>
                </a:solidFill>
                <a:latin typeface="Alibaba PuHuiTi 3.0"/>
                <a:ea typeface="Alibaba PuHuiTi 3.0"/>
                <a:cs typeface="Alibaba PuHuiTi 3.0"/>
              </a:defRPr>
            </a:pPr>
            <a:r>
              <a:rPr sz="2100" b="1">
                <a:solidFill>
                  <a:srgbClr val="202824"/>
                </a:solidFill>
                <a:latin typeface="Alibaba PuHuiTi 3.0"/>
                <a:ea typeface="Alibaba PuHuiTi 3.0"/>
                <a:cs typeface="Alibaba PuHuiTi 3.0"/>
              </a:rPr>
              <a:t>经论证无法调整</a:t>
            </a:r>
          </a:p>
        </p:txBody>
      </p:sp>
      <p:sp>
        <p:nvSpPr>
          <p:cNvPr id="9" name="">
            <a:extLst xmlns:a="http://schemas.openxmlformats.org/drawingml/2006/main">
              <a:ext uri="{FF2B5EF4-FFF2-40B4-BE49-F238E27FC236}">
                <a16:creationId xmlns:a16="http://schemas.microsoft.com/office/drawing/2014/main" id="{B52F7245-69BB-4BFB-99B1-6368584A1DF0}"/>
              </a:ext>
            </a:extLst>
          </p:cNvPr>
          <p:cNvSpPr>
            <a:spLocks xmlns:a="http://schemas.openxmlformats.org/drawingml/2006/main" noGrp="1"/>
          </p:cNvSpPr>
          <p:nvPr/>
        </p:nvSpPr>
        <p:spPr>
          <a:xfrm xmlns:a="http://schemas.openxmlformats.org/drawingml/2006/main">
            <a:off x="8096250" y="3305175"/>
            <a:ext cx="32575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两侧采用横向小花坛和小型罗汉松，控制突出尺度，保留入口的对称秩序。</a:t>
            </a:r>
          </a:p>
        </p:txBody>
      </p:sp>
      <p:sp>
        <p:nvSpPr>
          <p:cNvPr id="10" name="">
            <a:extLst xmlns:a="http://schemas.openxmlformats.org/drawingml/2006/main">
              <a:ext uri="{FF2B5EF4-FFF2-40B4-BE49-F238E27FC236}">
                <a16:creationId xmlns:a16="http://schemas.microsoft.com/office/drawing/2014/main" id="{18676DC2-6412-427D-A629-91538876D364}"/>
              </a:ext>
            </a:extLst>
          </p:cNvPr>
          <p:cNvSpPr>
            <a:spLocks xmlns:a="http://schemas.openxmlformats.org/drawingml/2006/main" noGrp="1"/>
          </p:cNvSpPr>
          <p:nvPr/>
        </p:nvSpPr>
        <p:spPr>
          <a:xfrm xmlns:a="http://schemas.openxmlformats.org/drawingml/2006/main">
            <a:off x="8096250" y="4276725"/>
            <a:ext cx="3257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安全要求</a:t>
            </a:r>
          </a:p>
        </p:txBody>
      </p:sp>
      <p:sp>
        <p:nvSpPr>
          <p:cNvPr id="11" name="">
            <a:extLst xmlns:a="http://schemas.openxmlformats.org/drawingml/2006/main">
              <a:ext uri="{FF2B5EF4-FFF2-40B4-BE49-F238E27FC236}">
                <a16:creationId xmlns:a16="http://schemas.microsoft.com/office/drawing/2014/main" id="{E6B0E223-2EDA-4008-A344-A0CBEC0A9BF0}"/>
              </a:ext>
            </a:extLst>
          </p:cNvPr>
          <p:cNvSpPr>
            <a:spLocks xmlns:a="http://schemas.openxmlformats.org/drawingml/2006/main" noGrp="1"/>
          </p:cNvSpPr>
          <p:nvPr/>
        </p:nvSpPr>
        <p:spPr>
          <a:xfrm xmlns:a="http://schemas.openxmlformats.org/drawingml/2006/main">
            <a:off x="8096250" y="4648200"/>
            <a:ext cx="3257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花坛不得压缩必要通行空间，不遮挡驾驶员视线，树池须完成防倾覆和排水设计。</a:t>
            </a:r>
          </a:p>
        </p:txBody>
      </p:sp>
      <p:sp>
        <p:nvSpPr>
          <p:cNvPr id="12" name="">
            <a:extLst xmlns:a="http://schemas.openxmlformats.org/drawingml/2006/main">
              <a:ext uri="{FF2B5EF4-FFF2-40B4-BE49-F238E27FC236}">
                <a16:creationId xmlns:a16="http://schemas.microsoft.com/office/drawing/2014/main" id="{A9D0EF72-A1EE-41A1-980D-9C0919FB84E6}"/>
              </a:ext>
            </a:extLst>
          </p:cNvPr>
          <p:cNvSpPr>
            <a:spLocks xmlns:a="http://schemas.openxmlformats.org/drawingml/2006/main" noGrp="1"/>
          </p:cNvSpPr>
          <p:nvPr/>
        </p:nvSpPr>
        <p:spPr>
          <a:xfrm xmlns:a="http://schemas.openxmlformats.org/drawingml/2006/main">
            <a:off x="781050" y="5467350"/>
            <a:ext cx="76200" cy="704850"/>
          </a:xfrm>
          <a:prstGeom xmlns:a="http://schemas.openxmlformats.org/drawingml/2006/main" prst="rect">
            <a:avLst/>
          </a:prstGeom>
          <a:solidFill xmlns:a="http://schemas.openxmlformats.org/drawingml/2006/main">
            <a:srgbClr val="A8895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C000434-D7A6-4567-9EBE-BA11B1136396}"/>
              </a:ext>
            </a:extLst>
          </p:cNvPr>
          <p:cNvSpPr>
            <a:spLocks xmlns:a="http://schemas.openxmlformats.org/drawingml/2006/main" noGrp="1"/>
          </p:cNvSpPr>
          <p:nvPr/>
        </p:nvSpPr>
        <p:spPr>
          <a:xfrm xmlns:a="http://schemas.openxmlformats.org/drawingml/2006/main">
            <a:off x="1028700" y="5438775"/>
            <a:ext cx="152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A8895E"/>
                </a:solidFill>
                <a:latin typeface="Alibaba PuHuiTi 3.0"/>
                <a:ea typeface="Alibaba PuHuiTi 3.0"/>
                <a:cs typeface="Alibaba PuHuiTi 3.0"/>
              </a:defRPr>
            </a:pPr>
            <a:r>
              <a:rPr sz="1275" b="1">
                <a:solidFill>
                  <a:srgbClr val="A8895E"/>
                </a:solidFill>
                <a:latin typeface="Alibaba PuHuiTi 3.0"/>
                <a:ea typeface="Alibaba PuHuiTi 3.0"/>
                <a:cs typeface="Alibaba PuHuiTi 3.0"/>
              </a:rPr>
              <a:t>方案定位</a:t>
            </a:r>
          </a:p>
        </p:txBody>
      </p:sp>
      <p:sp>
        <p:nvSpPr>
          <p:cNvPr id="14" name="">
            <a:extLst xmlns:a="http://schemas.openxmlformats.org/drawingml/2006/main">
              <a:ext uri="{FF2B5EF4-FFF2-40B4-BE49-F238E27FC236}">
                <a16:creationId xmlns:a16="http://schemas.microsoft.com/office/drawing/2014/main" id="{1D876C4E-0D22-4646-A821-05DE238F2664}"/>
              </a:ext>
            </a:extLst>
          </p:cNvPr>
          <p:cNvSpPr>
            <a:spLocks xmlns:a="http://schemas.openxmlformats.org/drawingml/2006/main" noGrp="1"/>
          </p:cNvSpPr>
          <p:nvPr/>
        </p:nvSpPr>
        <p:spPr>
          <a:xfrm xmlns:a="http://schemas.openxmlformats.org/drawingml/2006/main">
            <a:off x="1028700" y="5705475"/>
            <a:ext cx="1032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1">
                <a:solidFill>
                  <a:srgbClr val="202824"/>
                </a:solidFill>
                <a:latin typeface="Alibaba PuHuiTi 3.0"/>
                <a:ea typeface="Alibaba PuHuiTi 3.0"/>
                <a:cs typeface="Alibaba PuHuiTi 3.0"/>
              </a:defRPr>
            </a:pPr>
            <a:r>
              <a:rPr sz="1575" b="1">
                <a:solidFill>
                  <a:srgbClr val="202824"/>
                </a:solidFill>
                <a:latin typeface="Alibaba PuHuiTi 3.0"/>
                <a:ea typeface="Alibaba PuHuiTi 3.0"/>
                <a:cs typeface="Alibaba PuHuiTi 3.0"/>
              </a:rPr>
              <a:t>该方案仅作为车道优化方案无法实施时的保底选项。</a:t>
            </a:r>
          </a:p>
        </p:txBody>
      </p:sp>
      <p:sp>
        <p:nvSpPr>
          <p:cNvPr id="15" name="">
            <a:extLst xmlns:a="http://schemas.openxmlformats.org/drawingml/2006/main">
              <a:ext uri="{FF2B5EF4-FFF2-40B4-BE49-F238E27FC236}">
                <a16:creationId xmlns:a16="http://schemas.microsoft.com/office/drawing/2014/main" id="{9545592A-87BD-4A6A-9FF6-245F35C3A797}"/>
              </a:ext>
            </a:extLst>
          </p:cNvPr>
          <p:cNvSpPr>
            <a:spLocks xmlns:a="http://schemas.openxmlformats.org/drawingml/2006/main" noGrp="1"/>
          </p:cNvSpPr>
          <p:nvPr/>
        </p:nvSpPr>
        <p:spPr>
          <a:xfrm xmlns:a="http://schemas.openxmlformats.org/drawingml/2006/main">
            <a:off x="1028700" y="6029325"/>
            <a:ext cx="103251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最终尺寸、树种规格和基础做法由开发商深化，并与业主代表确认。</a:t>
            </a:r>
          </a:p>
        </p:txBody>
      </p:sp>
      <p:sp>
        <p:nvSpPr>
          <p:cNvPr id="16" name="">
            <a:extLst xmlns:a="http://schemas.openxmlformats.org/drawingml/2006/main">
              <a:ext uri="{FF2B5EF4-FFF2-40B4-BE49-F238E27FC236}">
                <a16:creationId xmlns:a16="http://schemas.microsoft.com/office/drawing/2014/main" id="{8D90E64B-301E-4727-8FE6-3DCEBC6B962B}"/>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项目主入口优化事项  08</a:t>
            </a:r>
          </a:p>
        </p:txBody>
      </p:sp>
    </p:spTree>
    <p:extLst>
      <p:ext uri="{BB962C8B-B14F-4D97-AF65-F5344CB8AC3E}">
        <p14:creationId xmlns:p14="http://schemas.microsoft.com/office/powerpoint/2010/main" val="1022077432"/>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8B55D1-8B22-4EF0-BE59-6481B5A8542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08</a:t>
            </a:r>
          </a:p>
        </p:txBody>
      </p:sp>
      <p:sp>
        <p:nvSpPr>
          <p:cNvPr id="2" name="">
            <a:extLst xmlns:a="http://schemas.openxmlformats.org/drawingml/2006/main">
              <a:ext uri="{FF2B5EF4-FFF2-40B4-BE49-F238E27FC236}">
                <a16:creationId xmlns:a16="http://schemas.microsoft.com/office/drawing/2014/main" id="{CB56A847-CFDE-43C2-A745-139A6BAC01E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核心诉求</a:t>
            </a:r>
          </a:p>
        </p:txBody>
      </p:sp>
      <p:sp>
        <p:nvSpPr>
          <p:cNvPr id="10" name="">
            <a:extLst xmlns:a="http://schemas.openxmlformats.org/drawingml/2006/main">
              <a:ext uri="{FF2B5EF4-FFF2-40B4-BE49-F238E27FC236}">
                <a16:creationId xmlns:a16="http://schemas.microsoft.com/office/drawing/2014/main" id="{A3A2B85A-BA45-443A-A1D2-1D6A858149C4}"/>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项目主入口优化事项  09</a:t>
            </a:r>
          </a:p>
        </p:txBody>
      </p:sp>
      <p:sp>
        <p:nvSpPr>
          <p:cNvPr id="12" name="">
            <a:extLst xmlns:a="http://schemas.openxmlformats.org/drawingml/2006/main">
              <a:ext uri="{FF2B5EF4-FFF2-40B4-BE49-F238E27FC236}">
                <a16:creationId xmlns:a16="http://schemas.microsoft.com/office/drawing/2014/main" id="{D6320302-BC2A-4215-A5E8-ED90680C9F13}"/>
              </a:ext>
            </a:extLst>
          </p:cNvPr>
          <p:cNvSpPr>
            <a:spLocks xmlns:a="http://schemas.openxmlformats.org/drawingml/2006/main" noGrp="1"/>
          </p:cNvSpPr>
          <p:nvPr/>
        </p:nvSpPr>
        <p:spPr>
          <a:xfrm xmlns:a="http://schemas.openxmlformats.org/drawingml/2006/main">
            <a:off x="1047750" y="2381250"/>
            <a:ext cx="10096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4350" b="1">
                <a:solidFill>
                  <a:srgbClr val="202824"/>
                </a:solidFill>
                <a:latin typeface="Alibaba PuHuiTi 3.0"/>
                <a:ea typeface="Alibaba PuHuiTi 3.0"/>
                <a:cs typeface="Alibaba PuHuiTi 3.0"/>
              </a:defRPr>
            </a:pPr>
            <a:r>
              <a:rPr sz="4350" b="1">
                <a:solidFill>
                  <a:srgbClr val="202824"/>
                </a:solidFill>
                <a:latin typeface="Alibaba PuHuiTi 3.0"/>
                <a:ea typeface="Alibaba PuHuiTi 3.0"/>
                <a:cs typeface="Alibaba PuHuiTi 3.0"/>
              </a:rPr>
              <a:t>保持入口整体造景品质</a:t>
            </a:r>
          </a:p>
        </p:txBody>
      </p:sp>
      <p:sp>
        <p:nvSpPr>
          <p:cNvPr id="13" name="">
            <a:extLst xmlns:a="http://schemas.openxmlformats.org/drawingml/2006/main">
              <a:ext uri="{FF2B5EF4-FFF2-40B4-BE49-F238E27FC236}">
                <a16:creationId xmlns:a16="http://schemas.microsoft.com/office/drawing/2014/main" id="{7E726249-8AD6-4838-B268-37692C50E6BC}"/>
              </a:ext>
            </a:extLst>
          </p:cNvPr>
          <p:cNvSpPr>
            <a:spLocks xmlns:a="http://schemas.openxmlformats.org/drawingml/2006/main" noGrp="1"/>
          </p:cNvSpPr>
          <p:nvPr/>
        </p:nvSpPr>
        <p:spPr>
          <a:xfrm xmlns:a="http://schemas.openxmlformats.org/drawingml/2006/main">
            <a:off x="1809750" y="3810000"/>
            <a:ext cx="8572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950" b="0">
                <a:solidFill>
                  <a:srgbClr val="526159"/>
                </a:solidFill>
                <a:latin typeface="Alibaba PuHuiTi 3.0"/>
                <a:ea typeface="Alibaba PuHuiTi 3.0"/>
                <a:cs typeface="Alibaba PuHuiTi 3.0"/>
              </a:defRPr>
            </a:pPr>
            <a:r>
              <a:rPr sz="1950" b="0">
                <a:solidFill>
                  <a:srgbClr val="526159"/>
                </a:solidFill>
                <a:latin typeface="Alibaba PuHuiTi 3.0"/>
                <a:ea typeface="Alibaba PuHuiTi 3.0"/>
                <a:cs typeface="Alibaba PuHuiTi 3.0"/>
              </a:rPr>
              <a:t>最终优化应保持入口景观的完整性和质感，避免简单拼凑或明显降档。</a:t>
            </a:r>
          </a:p>
        </p:txBody>
      </p:sp>
    </p:spTree>
    <p:extLst>
      <p:ext uri="{BB962C8B-B14F-4D97-AF65-F5344CB8AC3E}">
        <p14:creationId xmlns:p14="http://schemas.microsoft.com/office/powerpoint/2010/main" val="4726158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2026-10-04T03:38:45.5340000Z</dcterms:created>
  <dcterms:modified xsi:type="dcterms:W3CDTF">2026-10-04T03:38:45.5340000Z</dcterms:modified>
</coreProperties>
</file>